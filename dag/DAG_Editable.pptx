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23774400" cy="1124712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
            <a:ext cx="21945600" cy="548640"/>
          </a:xfrm>
          <a:prstGeom prst="rect">
            <a:avLst/>
          </a:prstGeom>
          <a:noFill/>
        </p:spPr>
        <p:txBody>
          <a:bodyPr wrap="square">
            <a:spAutoFit/>
          </a:bodyPr>
          <a:lstStyle/>
          <a:p>
            <a:pPr algn="ctr"/>
            <a:r>
              <a:rPr sz="2200" b="1">
                <a:solidFill>
                  <a:srgbClr val="1F3864"/>
                </a:solidFill>
                <a:latin typeface="Calibri"/>
              </a:rPr>
              <a:t>Identification DAG — 10 Backdoor Paths + 1 Causal Path (Maternal Smoking → Preterm Birth)</a:t>
            </a:r>
          </a:p>
        </p:txBody>
      </p:sp>
      <p:sp>
        <p:nvSpPr>
          <p:cNvPr id="3" name="Rounded Rectangle 2"/>
          <p:cNvSpPr/>
          <p:nvPr/>
        </p:nvSpPr>
        <p:spPr>
          <a:xfrm>
            <a:off x="457200" y="4892040"/>
            <a:ext cx="2926080" cy="1508760"/>
          </a:xfrm>
          <a:prstGeom prst="roundRect">
            <a:avLst/>
          </a:prstGeom>
          <a:solidFill>
            <a:srgbClr val="FDE3D0"/>
          </a:solidFill>
          <a:ln w="28575">
            <a:solidFill>
              <a:srgbClr val="C1611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36576" bIns="36576"/>
          <a:lstStyle/>
          <a:p>
            <a:pPr algn="ctr">
              <a:lnSpc>
                <a:spcPct val="100000"/>
              </a:lnSpc>
            </a:pPr>
            <a:r>
              <a:rPr sz="1350" b="1">
                <a:solidFill>
                  <a:srgbClr val="C1611A"/>
                </a:solidFill>
                <a:latin typeface="Calibri"/>
              </a:rPr>
              <a:t>Maternal smoking</a:t>
            </a:r>
          </a:p>
          <a:p>
            <a:pPr algn="ctr">
              <a:lnSpc>
                <a:spcPct val="100000"/>
              </a:lnSpc>
            </a:pPr>
            <a:r>
              <a:rPr sz="1350" b="1">
                <a:solidFill>
                  <a:srgbClr val="C1611A"/>
                </a:solidFill>
                <a:latin typeface="Calibri"/>
              </a:rPr>
              <a:t>during pregnancy</a:t>
            </a:r>
          </a:p>
          <a:p>
            <a:pPr algn="ctr">
              <a:lnSpc>
                <a:spcPct val="100000"/>
              </a:lnSpc>
            </a:pPr>
            <a:r>
              <a:rPr sz="1350" b="1">
                <a:solidFill>
                  <a:srgbClr val="C1611A"/>
                </a:solidFill>
                <a:latin typeface="Calibri"/>
              </a:rPr>
              <a:t>(exposure, T)</a:t>
            </a:r>
          </a:p>
        </p:txBody>
      </p:sp>
      <p:sp>
        <p:nvSpPr>
          <p:cNvPr id="4" name="Rounded Rectangle 3"/>
          <p:cNvSpPr/>
          <p:nvPr/>
        </p:nvSpPr>
        <p:spPr>
          <a:xfrm>
            <a:off x="20208240" y="4892040"/>
            <a:ext cx="2926080" cy="1508760"/>
          </a:xfrm>
          <a:prstGeom prst="roundRect">
            <a:avLst/>
          </a:prstGeom>
          <a:solidFill>
            <a:srgbClr val="D9ECDD"/>
          </a:solidFill>
          <a:ln w="28575">
            <a:solidFill>
              <a:srgbClr val="237A3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36576" bIns="36576"/>
          <a:lstStyle/>
          <a:p>
            <a:pPr algn="ctr">
              <a:lnSpc>
                <a:spcPct val="100000"/>
              </a:lnSpc>
            </a:pPr>
            <a:r>
              <a:rPr sz="1350" b="1">
                <a:solidFill>
                  <a:srgbClr val="237A3E"/>
                </a:solidFill>
                <a:latin typeface="Calibri"/>
              </a:rPr>
              <a:t>Preterm birth</a:t>
            </a:r>
          </a:p>
          <a:p>
            <a:pPr algn="ctr">
              <a:lnSpc>
                <a:spcPct val="100000"/>
              </a:lnSpc>
            </a:pPr>
            <a:r>
              <a:rPr sz="1350" b="1">
                <a:solidFill>
                  <a:srgbClr val="237A3E"/>
                </a:solidFill>
                <a:latin typeface="Calibri"/>
              </a:rPr>
              <a:t>&lt; 37 weeks</a:t>
            </a:r>
          </a:p>
          <a:p>
            <a:pPr algn="ctr">
              <a:lnSpc>
                <a:spcPct val="100000"/>
              </a:lnSpc>
            </a:pPr>
            <a:r>
              <a:rPr sz="1350" b="1">
                <a:solidFill>
                  <a:srgbClr val="237A3E"/>
                </a:solidFill>
                <a:latin typeface="Calibri"/>
              </a:rPr>
              <a:t>(outcome, Y)</a:t>
            </a:r>
          </a:p>
        </p:txBody>
      </p:sp>
      <p:sp>
        <p:nvSpPr>
          <p:cNvPr id="5" name="Rounded Rectangle 4"/>
          <p:cNvSpPr/>
          <p:nvPr/>
        </p:nvSpPr>
        <p:spPr>
          <a:xfrm>
            <a:off x="1586484"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Race / ethnicity</a:t>
            </a:r>
          </a:p>
        </p:txBody>
      </p:sp>
      <p:sp>
        <p:nvSpPr>
          <p:cNvPr id="6" name="Rounded Rectangle 5"/>
          <p:cNvSpPr/>
          <p:nvPr/>
        </p:nvSpPr>
        <p:spPr>
          <a:xfrm>
            <a:off x="3616451"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Maternal age</a:t>
            </a:r>
          </a:p>
        </p:txBody>
      </p:sp>
      <p:sp>
        <p:nvSpPr>
          <p:cNvPr id="7" name="Rounded Rectangle 6"/>
          <p:cNvSpPr/>
          <p:nvPr/>
        </p:nvSpPr>
        <p:spPr>
          <a:xfrm>
            <a:off x="5646419"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Education</a:t>
            </a:r>
          </a:p>
        </p:txBody>
      </p:sp>
      <p:sp>
        <p:nvSpPr>
          <p:cNvPr id="8" name="Rounded Rectangle 7"/>
          <p:cNvSpPr/>
          <p:nvPr/>
        </p:nvSpPr>
        <p:spPr>
          <a:xfrm>
            <a:off x="7676388"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Pre-pregnancy BMI</a:t>
            </a:r>
          </a:p>
        </p:txBody>
      </p:sp>
      <p:sp>
        <p:nvSpPr>
          <p:cNvPr id="9" name="Rounded Rectangle 8"/>
          <p:cNvSpPr/>
          <p:nvPr/>
        </p:nvSpPr>
        <p:spPr>
          <a:xfrm>
            <a:off x="9706355"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Parity</a:t>
            </a:r>
          </a:p>
          <a:p>
            <a:pPr algn="ctr">
              <a:lnSpc>
                <a:spcPct val="100000"/>
              </a:lnSpc>
            </a:pPr>
            <a:r>
              <a:rPr sz="1200" b="0">
                <a:solidFill>
                  <a:srgbClr val="1A2233"/>
                </a:solidFill>
                <a:latin typeface="Calibri"/>
              </a:rPr>
              <a:t>(nulliparous)</a:t>
            </a:r>
          </a:p>
        </p:txBody>
      </p:sp>
      <p:sp>
        <p:nvSpPr>
          <p:cNvPr id="10" name="Rounded Rectangle 9"/>
          <p:cNvSpPr/>
          <p:nvPr/>
        </p:nvSpPr>
        <p:spPr>
          <a:xfrm>
            <a:off x="11736324"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WIC</a:t>
            </a:r>
          </a:p>
          <a:p>
            <a:pPr algn="ctr">
              <a:lnSpc>
                <a:spcPct val="100000"/>
              </a:lnSpc>
            </a:pPr>
            <a:r>
              <a:rPr sz="1200" b="0">
                <a:solidFill>
                  <a:srgbClr val="1A2233"/>
                </a:solidFill>
                <a:latin typeface="Calibri"/>
              </a:rPr>
              <a:t>participation</a:t>
            </a:r>
          </a:p>
        </p:txBody>
      </p:sp>
      <p:sp>
        <p:nvSpPr>
          <p:cNvPr id="11" name="Rounded Rectangle 10"/>
          <p:cNvSpPr/>
          <p:nvPr/>
        </p:nvSpPr>
        <p:spPr>
          <a:xfrm>
            <a:off x="13766291"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Pre-pregnancy</a:t>
            </a:r>
          </a:p>
          <a:p>
            <a:pPr algn="ctr">
              <a:lnSpc>
                <a:spcPct val="100000"/>
              </a:lnSpc>
            </a:pPr>
            <a:r>
              <a:rPr sz="1200" b="0">
                <a:solidFill>
                  <a:srgbClr val="1A2233"/>
                </a:solidFill>
                <a:latin typeface="Calibri"/>
              </a:rPr>
              <a:t>diabetes</a:t>
            </a:r>
          </a:p>
        </p:txBody>
      </p:sp>
      <p:sp>
        <p:nvSpPr>
          <p:cNvPr id="12" name="Rounded Rectangle 11"/>
          <p:cNvSpPr/>
          <p:nvPr/>
        </p:nvSpPr>
        <p:spPr>
          <a:xfrm>
            <a:off x="15796259"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Pre-pregnancy</a:t>
            </a:r>
          </a:p>
          <a:p>
            <a:pPr algn="ctr">
              <a:lnSpc>
                <a:spcPct val="100000"/>
              </a:lnSpc>
            </a:pPr>
            <a:r>
              <a:rPr sz="1200" b="0">
                <a:solidFill>
                  <a:srgbClr val="1A2233"/>
                </a:solidFill>
                <a:latin typeface="Calibri"/>
              </a:rPr>
              <a:t>hypertension</a:t>
            </a:r>
          </a:p>
        </p:txBody>
      </p:sp>
      <p:sp>
        <p:nvSpPr>
          <p:cNvPr id="13" name="Rounded Rectangle 12"/>
          <p:cNvSpPr/>
          <p:nvPr/>
        </p:nvSpPr>
        <p:spPr>
          <a:xfrm>
            <a:off x="17826227" y="100584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Prior preterm</a:t>
            </a:r>
          </a:p>
          <a:p>
            <a:pPr algn="ctr">
              <a:lnSpc>
                <a:spcPct val="100000"/>
              </a:lnSpc>
            </a:pPr>
            <a:r>
              <a:rPr sz="1200" b="0">
                <a:solidFill>
                  <a:srgbClr val="1A2233"/>
                </a:solidFill>
                <a:latin typeface="Calibri"/>
              </a:rPr>
              <a:t>birth</a:t>
            </a:r>
          </a:p>
        </p:txBody>
      </p:sp>
      <p:sp>
        <p:nvSpPr>
          <p:cNvPr id="14" name="Rounded Rectangle 13"/>
          <p:cNvSpPr/>
          <p:nvPr/>
        </p:nvSpPr>
        <p:spPr>
          <a:xfrm>
            <a:off x="19856196" y="2331720"/>
            <a:ext cx="233172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00" b="0">
                <a:solidFill>
                  <a:srgbClr val="1A2233"/>
                </a:solidFill>
                <a:latin typeface="Calibri"/>
              </a:rPr>
              <a:t>Prenatal care</a:t>
            </a:r>
          </a:p>
          <a:p>
            <a:pPr algn="ctr">
              <a:lnSpc>
                <a:spcPct val="100000"/>
              </a:lnSpc>
            </a:pPr>
            <a:r>
              <a:rPr sz="1200" b="0">
                <a:solidFill>
                  <a:srgbClr val="1A2233"/>
                </a:solidFill>
                <a:latin typeface="Calibri"/>
              </a:rPr>
              <a:t>timing</a:t>
            </a:r>
          </a:p>
        </p:txBody>
      </p:sp>
      <p:cxnSp>
        <p:nvCxnSpPr>
          <p:cNvPr id="15" name="Connector 14"/>
          <p:cNvCxnSpPr>
            <a:stCxn id="5" idx="1"/>
            <a:endCxn id="3" idx="0"/>
          </p:cNvCxnSpPr>
          <p:nvPr/>
        </p:nvCxnSpPr>
        <p:spPr>
          <a:xfrm>
            <a:off x="1586484" y="1485900"/>
            <a:ext cx="333756"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a:stCxn id="5" idx="1"/>
            <a:endCxn id="4" idx="0"/>
          </p:cNvCxnSpPr>
          <p:nvPr/>
        </p:nvCxnSpPr>
        <p:spPr>
          <a:xfrm>
            <a:off x="1586484" y="1485900"/>
            <a:ext cx="20084796"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a:stCxn id="6" idx="1"/>
            <a:endCxn id="3" idx="0"/>
          </p:cNvCxnSpPr>
          <p:nvPr/>
        </p:nvCxnSpPr>
        <p:spPr>
          <a:xfrm flipH="1">
            <a:off x="1920240" y="2811780"/>
            <a:ext cx="1696211"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a:stCxn id="6" idx="1"/>
            <a:endCxn id="4" idx="0"/>
          </p:cNvCxnSpPr>
          <p:nvPr/>
        </p:nvCxnSpPr>
        <p:spPr>
          <a:xfrm>
            <a:off x="3616451" y="2811780"/>
            <a:ext cx="18054829"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a:stCxn id="7" idx="1"/>
            <a:endCxn id="3" idx="0"/>
          </p:cNvCxnSpPr>
          <p:nvPr/>
        </p:nvCxnSpPr>
        <p:spPr>
          <a:xfrm flipH="1">
            <a:off x="1920240" y="1485900"/>
            <a:ext cx="3726179"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a:stCxn id="7" idx="1"/>
            <a:endCxn id="4" idx="0"/>
          </p:cNvCxnSpPr>
          <p:nvPr/>
        </p:nvCxnSpPr>
        <p:spPr>
          <a:xfrm>
            <a:off x="5646419" y="1485900"/>
            <a:ext cx="16024861"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a:stCxn id="8" idx="1"/>
            <a:endCxn id="3" idx="0"/>
          </p:cNvCxnSpPr>
          <p:nvPr/>
        </p:nvCxnSpPr>
        <p:spPr>
          <a:xfrm flipH="1">
            <a:off x="1920240" y="2811780"/>
            <a:ext cx="5756148"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a:stCxn id="8" idx="1"/>
            <a:endCxn id="4" idx="0"/>
          </p:cNvCxnSpPr>
          <p:nvPr/>
        </p:nvCxnSpPr>
        <p:spPr>
          <a:xfrm>
            <a:off x="7676388" y="2811780"/>
            <a:ext cx="13994892"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a:stCxn id="9" idx="1"/>
            <a:endCxn id="3" idx="0"/>
          </p:cNvCxnSpPr>
          <p:nvPr/>
        </p:nvCxnSpPr>
        <p:spPr>
          <a:xfrm flipH="1">
            <a:off x="1920240" y="1485900"/>
            <a:ext cx="7786115"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a:stCxn id="9" idx="1"/>
            <a:endCxn id="4" idx="0"/>
          </p:cNvCxnSpPr>
          <p:nvPr/>
        </p:nvCxnSpPr>
        <p:spPr>
          <a:xfrm>
            <a:off x="9706355" y="1485900"/>
            <a:ext cx="11964925"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a:stCxn id="10" idx="1"/>
            <a:endCxn id="3" idx="0"/>
          </p:cNvCxnSpPr>
          <p:nvPr/>
        </p:nvCxnSpPr>
        <p:spPr>
          <a:xfrm flipH="1">
            <a:off x="1920240" y="2811780"/>
            <a:ext cx="9816084"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a:stCxn id="10" idx="1"/>
            <a:endCxn id="4" idx="0"/>
          </p:cNvCxnSpPr>
          <p:nvPr/>
        </p:nvCxnSpPr>
        <p:spPr>
          <a:xfrm>
            <a:off x="11736324" y="2811780"/>
            <a:ext cx="9934956"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a:stCxn id="11" idx="1"/>
            <a:endCxn id="3" idx="0"/>
          </p:cNvCxnSpPr>
          <p:nvPr/>
        </p:nvCxnSpPr>
        <p:spPr>
          <a:xfrm flipH="1">
            <a:off x="1920240" y="1485900"/>
            <a:ext cx="11846051"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a:stCxn id="11" idx="1"/>
            <a:endCxn id="4" idx="0"/>
          </p:cNvCxnSpPr>
          <p:nvPr/>
        </p:nvCxnSpPr>
        <p:spPr>
          <a:xfrm>
            <a:off x="13766291" y="1485900"/>
            <a:ext cx="7904989"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stCxn id="12" idx="1"/>
            <a:endCxn id="3" idx="0"/>
          </p:cNvCxnSpPr>
          <p:nvPr/>
        </p:nvCxnSpPr>
        <p:spPr>
          <a:xfrm flipH="1">
            <a:off x="1920240" y="2811780"/>
            <a:ext cx="13876019"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1"/>
            <a:endCxn id="4" idx="0"/>
          </p:cNvCxnSpPr>
          <p:nvPr/>
        </p:nvCxnSpPr>
        <p:spPr>
          <a:xfrm>
            <a:off x="15796259" y="2811780"/>
            <a:ext cx="5875021"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a:stCxn id="13" idx="1"/>
            <a:endCxn id="3" idx="0"/>
          </p:cNvCxnSpPr>
          <p:nvPr/>
        </p:nvCxnSpPr>
        <p:spPr>
          <a:xfrm flipH="1">
            <a:off x="1920240" y="1485900"/>
            <a:ext cx="15905987"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a:stCxn id="13" idx="1"/>
            <a:endCxn id="4" idx="0"/>
          </p:cNvCxnSpPr>
          <p:nvPr/>
        </p:nvCxnSpPr>
        <p:spPr>
          <a:xfrm>
            <a:off x="17826227" y="1485900"/>
            <a:ext cx="3845053" cy="340614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a:stCxn id="14" idx="1"/>
            <a:endCxn id="3" idx="0"/>
          </p:cNvCxnSpPr>
          <p:nvPr/>
        </p:nvCxnSpPr>
        <p:spPr>
          <a:xfrm flipH="1">
            <a:off x="1920240" y="2811780"/>
            <a:ext cx="17935956"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a:stCxn id="14" idx="1"/>
            <a:endCxn id="4" idx="0"/>
          </p:cNvCxnSpPr>
          <p:nvPr/>
        </p:nvCxnSpPr>
        <p:spPr>
          <a:xfrm>
            <a:off x="19856196" y="2811780"/>
            <a:ext cx="1815084" cy="2080260"/>
          </a:xfrm>
          <a:prstGeom prst="line">
            <a:avLst/>
          </a:prstGeom>
          <a:ln w="1270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a:stCxn id="3" idx="2"/>
            <a:endCxn id="4" idx="3"/>
          </p:cNvCxnSpPr>
          <p:nvPr/>
        </p:nvCxnSpPr>
        <p:spPr>
          <a:xfrm flipV="1">
            <a:off x="1920240" y="5646420"/>
            <a:ext cx="21214080" cy="754380"/>
          </a:xfrm>
          <a:prstGeom prst="line">
            <a:avLst/>
          </a:prstGeom>
          <a:ln w="50800">
            <a:solidFill>
              <a:srgbClr val="C1611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961120" y="6537960"/>
            <a:ext cx="5852160" cy="365760"/>
          </a:xfrm>
          <a:prstGeom prst="rect">
            <a:avLst/>
          </a:prstGeom>
          <a:noFill/>
        </p:spPr>
        <p:txBody>
          <a:bodyPr wrap="square">
            <a:spAutoFit/>
          </a:bodyPr>
          <a:lstStyle/>
          <a:p>
            <a:pPr algn="l"/>
            <a:r>
              <a:rPr sz="1300" i="1">
                <a:solidFill>
                  <a:srgbClr val="C1611A"/>
                </a:solidFill>
                <a:latin typeface="Calibri"/>
              </a:rPr>
              <a:t>Causal path of interest (odds ratio, adjusted / weighted)</a:t>
            </a:r>
          </a:p>
        </p:txBody>
      </p:sp>
      <p:sp>
        <p:nvSpPr>
          <p:cNvPr id="37" name="TextBox 36"/>
          <p:cNvSpPr txBox="1"/>
          <p:nvPr/>
        </p:nvSpPr>
        <p:spPr>
          <a:xfrm>
            <a:off x="548640" y="7040880"/>
            <a:ext cx="22677120" cy="1188720"/>
          </a:xfrm>
          <a:prstGeom prst="rect">
            <a:avLst/>
          </a:prstGeom>
          <a:noFill/>
        </p:spPr>
        <p:txBody>
          <a:bodyPr wrap="square">
            <a:spAutoFit/>
          </a:bodyPr>
          <a:lstStyle/>
          <a:p>
            <a:pPr algn="l"/>
            <a:r>
              <a:rPr sz="1350" i="0">
                <a:solidFill>
                  <a:srgbClr val="1A2233"/>
                </a:solidFill>
                <a:latin typeface="Calibri"/>
              </a:rPr>
              <a:t>Paths in this diagram — 11 total, all blocked or estimated once the propensity-score adjustment is applied:
•  1 causal path:  T → Y  (the effect being estimated)
•  10 backdoor paths, one per confounder Xi:  T ← Xi → Y  (each is blocked by conditioning on Xi in the propensity-score model)</a:t>
            </a:r>
          </a:p>
        </p:txBody>
      </p:sp>
      <p:sp>
        <p:nvSpPr>
          <p:cNvPr id="38" name="TextBox 37"/>
          <p:cNvSpPr txBox="1"/>
          <p:nvPr/>
        </p:nvSpPr>
        <p:spPr>
          <a:xfrm>
            <a:off x="548640" y="8001000"/>
            <a:ext cx="22677120" cy="1051560"/>
          </a:xfrm>
          <a:prstGeom prst="rect">
            <a:avLst/>
          </a:prstGeom>
          <a:noFill/>
        </p:spPr>
        <p:txBody>
          <a:bodyPr wrap="square">
            <a:spAutoFit/>
          </a:bodyPr>
          <a:lstStyle/>
          <a:p>
            <a:pPr algn="l"/>
            <a:r>
              <a:rPr sz="1250" i="0">
                <a:solidFill>
                  <a:srgbClr val="1F3864"/>
                </a:solidFill>
                <a:latin typeface="Calibri"/>
              </a:rPr>
              <a:t>Minimal sufficient adjustment set, Z (10 variables): {Maternal age, Race/ethnicity, Education, Prenatal-care timing, WIC participation, Parity, Prior preterm birth, Pre-pregnancy diabetes, Pre-pregnancy hypertension, Pre-pregnancy BMI}. Sufficient: conditioning on Z blocks all 10 backdoor paths above (each Xi sits on exactly one). Minimal: no Xi can be dropped from Z, since each is the only node on its own backdoor path — dropping it leaves that path unblocked; and Z contains no mediator or collider of T → Y, so nothing in Z should be dropped for that reason either.</a:t>
            </a:r>
          </a:p>
        </p:txBody>
      </p:sp>
      <p:sp>
        <p:nvSpPr>
          <p:cNvPr id="39" name="TextBox 38"/>
          <p:cNvSpPr txBox="1"/>
          <p:nvPr/>
        </p:nvSpPr>
        <p:spPr>
          <a:xfrm>
            <a:off x="548640" y="9098280"/>
            <a:ext cx="22677120" cy="822960"/>
          </a:xfrm>
          <a:prstGeom prst="rect">
            <a:avLst/>
          </a:prstGeom>
          <a:noFill/>
        </p:spPr>
        <p:txBody>
          <a:bodyPr wrap="square">
            <a:spAutoFit/>
          </a:bodyPr>
          <a:lstStyle/>
          <a:p>
            <a:pPr algn="l"/>
            <a:r>
              <a:rPr sz="1200" i="1">
                <a:solidFill>
                  <a:srgbClr val="555555"/>
                </a:solidFill>
                <a:latin typeface="Calibri"/>
              </a:rPr>
              <a:t>Each edge into T above was individually defended (not defaulted): a node is a parent of T only if it plausibly influences smoking behavior itself, not merely the outcome. Insurance/payer type was considered and excluded on exactly this test — see the proposal text for the full node-by-node defense, including why it is still discussed despite its empirical correlation with smoking. A second, supplementary diagram (next slide) shows an assumed ordering AMONG the confounders themselves; see its note for why those additional indirect paths do not require separate treatment.</a:t>
            </a:r>
          </a:p>
        </p:txBody>
      </p:sp>
      <p:sp>
        <p:nvSpPr>
          <p:cNvPr id="40" name="Rounded Rectangle 39"/>
          <p:cNvSpPr/>
          <p:nvPr/>
        </p:nvSpPr>
        <p:spPr>
          <a:xfrm>
            <a:off x="731520" y="3977639"/>
            <a:ext cx="320040" cy="228600"/>
          </a:xfrm>
          <a:prstGeom prst="roundRect">
            <a:avLst/>
          </a:prstGeom>
          <a:solidFill>
            <a:srgbClr val="EEF2F7"/>
          </a:solidFill>
          <a:ln w="15875">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43000" y="3913631"/>
            <a:ext cx="1828800" cy="365760"/>
          </a:xfrm>
          <a:prstGeom prst="rect">
            <a:avLst/>
          </a:prstGeom>
          <a:noFill/>
        </p:spPr>
        <p:txBody>
          <a:bodyPr wrap="none">
            <a:spAutoFit/>
          </a:bodyPr>
          <a:lstStyle/>
          <a:p>
            <a:r>
              <a:rPr sz="1200">
                <a:solidFill>
                  <a:srgbClr val="1A2233"/>
                </a:solidFill>
                <a:latin typeface="Calibri"/>
              </a:rPr>
              <a:t>Confounder</a:t>
            </a:r>
          </a:p>
        </p:txBody>
      </p:sp>
      <p:sp>
        <p:nvSpPr>
          <p:cNvPr id="42" name="Rounded Rectangle 41"/>
          <p:cNvSpPr/>
          <p:nvPr/>
        </p:nvSpPr>
        <p:spPr>
          <a:xfrm>
            <a:off x="3108960" y="3977639"/>
            <a:ext cx="320040" cy="228600"/>
          </a:xfrm>
          <a:prstGeom prst="roundRect">
            <a:avLst/>
          </a:prstGeom>
          <a:solidFill>
            <a:srgbClr val="FDE3D0"/>
          </a:solidFill>
          <a:ln w="15875">
            <a:solidFill>
              <a:srgbClr val="C16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20440" y="3913631"/>
            <a:ext cx="1828800" cy="365760"/>
          </a:xfrm>
          <a:prstGeom prst="rect">
            <a:avLst/>
          </a:prstGeom>
          <a:noFill/>
        </p:spPr>
        <p:txBody>
          <a:bodyPr wrap="none">
            <a:spAutoFit/>
          </a:bodyPr>
          <a:lstStyle/>
          <a:p>
            <a:r>
              <a:rPr sz="1200">
                <a:solidFill>
                  <a:srgbClr val="1A2233"/>
                </a:solidFill>
                <a:latin typeface="Calibri"/>
              </a:rPr>
              <a:t>Exposure</a:t>
            </a:r>
          </a:p>
        </p:txBody>
      </p:sp>
      <p:sp>
        <p:nvSpPr>
          <p:cNvPr id="44" name="Rounded Rectangle 43"/>
          <p:cNvSpPr/>
          <p:nvPr/>
        </p:nvSpPr>
        <p:spPr>
          <a:xfrm>
            <a:off x="5486400" y="3977639"/>
            <a:ext cx="320040" cy="228600"/>
          </a:xfrm>
          <a:prstGeom prst="roundRect">
            <a:avLst/>
          </a:prstGeom>
          <a:solidFill>
            <a:srgbClr val="D9ECDD"/>
          </a:solidFill>
          <a:ln w="15875">
            <a:solidFill>
              <a:srgbClr val="23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97880" y="3913631"/>
            <a:ext cx="1828800" cy="365760"/>
          </a:xfrm>
          <a:prstGeom prst="rect">
            <a:avLst/>
          </a:prstGeom>
          <a:noFill/>
        </p:spPr>
        <p:txBody>
          <a:bodyPr wrap="none">
            <a:spAutoFit/>
          </a:bodyPr>
          <a:lstStyle/>
          <a:p>
            <a:r>
              <a:rPr sz="1200">
                <a:solidFill>
                  <a:srgbClr val="1A2233"/>
                </a:solidFill>
                <a:latin typeface="Calibri"/>
              </a:rPr>
              <a:t>Outcome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
            <a:ext cx="21945600" cy="548640"/>
          </a:xfrm>
          <a:prstGeom prst="rect">
            <a:avLst/>
          </a:prstGeom>
          <a:noFill/>
        </p:spPr>
        <p:txBody>
          <a:bodyPr wrap="square">
            <a:spAutoFit/>
          </a:bodyPr>
          <a:lstStyle/>
          <a:p>
            <a:pPr algn="ctr"/>
            <a:r>
              <a:rPr sz="2200" b="1">
                <a:solidFill>
                  <a:srgbClr val="1F3864"/>
                </a:solidFill>
                <a:latin typeface="Calibri"/>
              </a:rPr>
              <a:t>Supplementary: Assumed Ordering Among the 10 Confounders (Not Part of the Adjustment-Set Argument)</a:t>
            </a:r>
          </a:p>
        </p:txBody>
      </p:sp>
      <p:sp>
        <p:nvSpPr>
          <p:cNvPr id="3" name="Rounded Rectangle 2"/>
          <p:cNvSpPr/>
          <p:nvPr/>
        </p:nvSpPr>
        <p:spPr>
          <a:xfrm>
            <a:off x="5303519" y="9144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Race / ethnicity</a:t>
            </a:r>
          </a:p>
        </p:txBody>
      </p:sp>
      <p:sp>
        <p:nvSpPr>
          <p:cNvPr id="4" name="Rounded Rectangle 3"/>
          <p:cNvSpPr/>
          <p:nvPr/>
        </p:nvSpPr>
        <p:spPr>
          <a:xfrm>
            <a:off x="15727680" y="9144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Maternal age</a:t>
            </a:r>
          </a:p>
        </p:txBody>
      </p:sp>
      <p:sp>
        <p:nvSpPr>
          <p:cNvPr id="5" name="Rounded Rectangle 4"/>
          <p:cNvSpPr/>
          <p:nvPr/>
        </p:nvSpPr>
        <p:spPr>
          <a:xfrm>
            <a:off x="3566159" y="27432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Education</a:t>
            </a:r>
          </a:p>
        </p:txBody>
      </p:sp>
      <p:sp>
        <p:nvSpPr>
          <p:cNvPr id="6" name="Rounded Rectangle 5"/>
          <p:cNvSpPr/>
          <p:nvPr/>
        </p:nvSpPr>
        <p:spPr>
          <a:xfrm>
            <a:off x="10515599" y="27432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Pre-pregnancy BMI</a:t>
            </a:r>
          </a:p>
        </p:txBody>
      </p:sp>
      <p:sp>
        <p:nvSpPr>
          <p:cNvPr id="7" name="Rounded Rectangle 6"/>
          <p:cNvSpPr/>
          <p:nvPr/>
        </p:nvSpPr>
        <p:spPr>
          <a:xfrm>
            <a:off x="17465039" y="27432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Parity</a:t>
            </a:r>
          </a:p>
          <a:p>
            <a:pPr algn="ctr">
              <a:lnSpc>
                <a:spcPct val="100000"/>
              </a:lnSpc>
            </a:pPr>
            <a:r>
              <a:rPr sz="1250" b="0">
                <a:solidFill>
                  <a:srgbClr val="1A2233"/>
                </a:solidFill>
                <a:latin typeface="Calibri"/>
              </a:rPr>
              <a:t>(nulliparous)</a:t>
            </a:r>
          </a:p>
        </p:txBody>
      </p:sp>
      <p:sp>
        <p:nvSpPr>
          <p:cNvPr id="8" name="Rounded Rectangle 7"/>
          <p:cNvSpPr/>
          <p:nvPr/>
        </p:nvSpPr>
        <p:spPr>
          <a:xfrm>
            <a:off x="269747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WIC</a:t>
            </a:r>
          </a:p>
          <a:p>
            <a:pPr algn="ctr">
              <a:lnSpc>
                <a:spcPct val="100000"/>
              </a:lnSpc>
            </a:pPr>
            <a:r>
              <a:rPr sz="1250" b="0">
                <a:solidFill>
                  <a:srgbClr val="1A2233"/>
                </a:solidFill>
                <a:latin typeface="Calibri"/>
              </a:rPr>
              <a:t>participation</a:t>
            </a:r>
          </a:p>
        </p:txBody>
      </p:sp>
      <p:sp>
        <p:nvSpPr>
          <p:cNvPr id="9" name="Rounded Rectangle 8"/>
          <p:cNvSpPr/>
          <p:nvPr/>
        </p:nvSpPr>
        <p:spPr>
          <a:xfrm>
            <a:off x="790955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Pre-pregnancy</a:t>
            </a:r>
          </a:p>
          <a:p>
            <a:pPr algn="ctr">
              <a:lnSpc>
                <a:spcPct val="100000"/>
              </a:lnSpc>
            </a:pPr>
            <a:r>
              <a:rPr sz="1250" b="0">
                <a:solidFill>
                  <a:srgbClr val="1A2233"/>
                </a:solidFill>
                <a:latin typeface="Calibri"/>
              </a:rPr>
              <a:t>diabetes</a:t>
            </a:r>
          </a:p>
        </p:txBody>
      </p:sp>
      <p:sp>
        <p:nvSpPr>
          <p:cNvPr id="10" name="Rounded Rectangle 9"/>
          <p:cNvSpPr/>
          <p:nvPr/>
        </p:nvSpPr>
        <p:spPr>
          <a:xfrm>
            <a:off x="1312163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Pre-pregnancy</a:t>
            </a:r>
          </a:p>
          <a:p>
            <a:pPr algn="ctr">
              <a:lnSpc>
                <a:spcPct val="100000"/>
              </a:lnSpc>
            </a:pPr>
            <a:r>
              <a:rPr sz="1250" b="0">
                <a:solidFill>
                  <a:srgbClr val="1A2233"/>
                </a:solidFill>
                <a:latin typeface="Calibri"/>
              </a:rPr>
              <a:t>hypertension</a:t>
            </a:r>
          </a:p>
        </p:txBody>
      </p:sp>
      <p:sp>
        <p:nvSpPr>
          <p:cNvPr id="11" name="Rounded Rectangle 10"/>
          <p:cNvSpPr/>
          <p:nvPr/>
        </p:nvSpPr>
        <p:spPr>
          <a:xfrm>
            <a:off x="18333719" y="45720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Prior preterm</a:t>
            </a:r>
          </a:p>
          <a:p>
            <a:pPr algn="ctr">
              <a:lnSpc>
                <a:spcPct val="100000"/>
              </a:lnSpc>
            </a:pPr>
            <a:r>
              <a:rPr sz="1250" b="0">
                <a:solidFill>
                  <a:srgbClr val="1A2233"/>
                </a:solidFill>
                <a:latin typeface="Calibri"/>
              </a:rPr>
              <a:t>birth</a:t>
            </a:r>
          </a:p>
        </p:txBody>
      </p:sp>
      <p:sp>
        <p:nvSpPr>
          <p:cNvPr id="12" name="Rounded Rectangle 11"/>
          <p:cNvSpPr/>
          <p:nvPr/>
        </p:nvSpPr>
        <p:spPr>
          <a:xfrm>
            <a:off x="10515599" y="6400800"/>
            <a:ext cx="2743200" cy="960120"/>
          </a:xfrm>
          <a:prstGeom prst="roundRect">
            <a:avLst/>
          </a:prstGeom>
          <a:solidFill>
            <a:srgbClr val="EEF2F7"/>
          </a:solidFill>
          <a:ln w="19050">
            <a:solidFill>
              <a:srgbClr val="6B7F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pPr>
            <a:r>
              <a:rPr sz="1250" b="0">
                <a:solidFill>
                  <a:srgbClr val="1A2233"/>
                </a:solidFill>
                <a:latin typeface="Calibri"/>
              </a:rPr>
              <a:t>Prenatal care</a:t>
            </a:r>
          </a:p>
          <a:p>
            <a:pPr algn="ctr">
              <a:lnSpc>
                <a:spcPct val="100000"/>
              </a:lnSpc>
            </a:pPr>
            <a:r>
              <a:rPr sz="1250" b="0">
                <a:solidFill>
                  <a:srgbClr val="1A2233"/>
                </a:solidFill>
                <a:latin typeface="Calibri"/>
              </a:rPr>
              <a:t>timing</a:t>
            </a:r>
          </a:p>
        </p:txBody>
      </p:sp>
      <p:cxnSp>
        <p:nvCxnSpPr>
          <p:cNvPr id="13" name="Connector 12"/>
          <p:cNvCxnSpPr>
            <a:stCxn id="3" idx="1"/>
            <a:endCxn id="5" idx="0"/>
          </p:cNvCxnSpPr>
          <p:nvPr/>
        </p:nvCxnSpPr>
        <p:spPr>
          <a:xfrm flipH="1">
            <a:off x="4937759" y="1394460"/>
            <a:ext cx="36576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a:stCxn id="4" idx="1"/>
            <a:endCxn id="7" idx="0"/>
          </p:cNvCxnSpPr>
          <p:nvPr/>
        </p:nvCxnSpPr>
        <p:spPr>
          <a:xfrm>
            <a:off x="15727680" y="1394460"/>
            <a:ext cx="3108959"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a:stCxn id="4" idx="1"/>
            <a:endCxn id="6" idx="0"/>
          </p:cNvCxnSpPr>
          <p:nvPr/>
        </p:nvCxnSpPr>
        <p:spPr>
          <a:xfrm flipH="1">
            <a:off x="11887199" y="1394460"/>
            <a:ext cx="3840481"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a:stCxn id="5" idx="1"/>
            <a:endCxn id="8" idx="0"/>
          </p:cNvCxnSpPr>
          <p:nvPr/>
        </p:nvCxnSpPr>
        <p:spPr>
          <a:xfrm>
            <a:off x="3566159" y="3223260"/>
            <a:ext cx="50292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a:stCxn id="6" idx="1"/>
            <a:endCxn id="9" idx="0"/>
          </p:cNvCxnSpPr>
          <p:nvPr/>
        </p:nvCxnSpPr>
        <p:spPr>
          <a:xfrm flipH="1">
            <a:off x="9281159" y="3223260"/>
            <a:ext cx="123444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a:stCxn id="6" idx="1"/>
            <a:endCxn id="10" idx="0"/>
          </p:cNvCxnSpPr>
          <p:nvPr/>
        </p:nvCxnSpPr>
        <p:spPr>
          <a:xfrm>
            <a:off x="10515599" y="3223260"/>
            <a:ext cx="397764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a:stCxn id="7" idx="1"/>
            <a:endCxn id="11" idx="0"/>
          </p:cNvCxnSpPr>
          <p:nvPr/>
        </p:nvCxnSpPr>
        <p:spPr>
          <a:xfrm>
            <a:off x="17465039" y="3223260"/>
            <a:ext cx="224028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a:stCxn id="8" idx="1"/>
            <a:endCxn id="12" idx="0"/>
          </p:cNvCxnSpPr>
          <p:nvPr/>
        </p:nvCxnSpPr>
        <p:spPr>
          <a:xfrm>
            <a:off x="2697479" y="5052060"/>
            <a:ext cx="9189720" cy="1348740"/>
          </a:xfrm>
          <a:prstGeom prst="line">
            <a:avLst/>
          </a:prstGeom>
          <a:ln w="22225">
            <a:solidFill>
              <a:srgbClr val="2F5C8A"/>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7922240" y="8366760"/>
            <a:ext cx="2926080" cy="1234440"/>
          </a:xfrm>
          <a:prstGeom prst="roundRect">
            <a:avLst/>
          </a:prstGeom>
          <a:solidFill>
            <a:srgbClr val="FDE3D0"/>
          </a:solidFill>
          <a:ln w="25400">
            <a:solidFill>
              <a:srgbClr val="C1611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36576" bIns="36576"/>
          <a:lstStyle/>
          <a:p>
            <a:pPr algn="ctr">
              <a:lnSpc>
                <a:spcPct val="100000"/>
              </a:lnSpc>
            </a:pPr>
            <a:r>
              <a:rPr sz="1300" b="1">
                <a:solidFill>
                  <a:srgbClr val="C1611A"/>
                </a:solidFill>
                <a:latin typeface="Calibri"/>
              </a:rPr>
              <a:t>Maternal smoking</a:t>
            </a:r>
          </a:p>
          <a:p>
            <a:pPr algn="ctr">
              <a:lnSpc>
                <a:spcPct val="100000"/>
              </a:lnSpc>
            </a:pPr>
            <a:r>
              <a:rPr sz="1300" b="1">
                <a:solidFill>
                  <a:srgbClr val="C1611A"/>
                </a:solidFill>
                <a:latin typeface="Calibri"/>
              </a:rPr>
              <a:t>during pregnancy</a:t>
            </a:r>
          </a:p>
          <a:p>
            <a:pPr algn="ctr">
              <a:lnSpc>
                <a:spcPct val="100000"/>
              </a:lnSpc>
            </a:pPr>
            <a:r>
              <a:rPr sz="1300" b="1">
                <a:solidFill>
                  <a:srgbClr val="C1611A"/>
                </a:solidFill>
                <a:latin typeface="Calibri"/>
              </a:rPr>
              <a:t>(exposure, T)</a:t>
            </a:r>
          </a:p>
        </p:txBody>
      </p:sp>
      <p:cxnSp>
        <p:nvCxnSpPr>
          <p:cNvPr id="22" name="Connector 21"/>
          <p:cNvCxnSpPr>
            <a:stCxn id="5" idx="2"/>
            <a:endCxn id="21" idx="3"/>
          </p:cNvCxnSpPr>
          <p:nvPr/>
        </p:nvCxnSpPr>
        <p:spPr>
          <a:xfrm>
            <a:off x="4937759" y="3703320"/>
            <a:ext cx="15910561" cy="5280660"/>
          </a:xfrm>
          <a:prstGeom prst="bentConnector3">
            <a:avLst/>
          </a:prstGeom>
          <a:ln w="34925">
            <a:solidFill>
              <a:srgbClr val="C1611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9784080"/>
            <a:ext cx="22677120" cy="1371600"/>
          </a:xfrm>
          <a:prstGeom prst="rect">
            <a:avLst/>
          </a:prstGeom>
          <a:noFill/>
        </p:spPr>
        <p:txBody>
          <a:bodyPr wrap="square">
            <a:spAutoFit/>
          </a:bodyPr>
          <a:lstStyle/>
          <a:p>
            <a:pPr algn="l"/>
            <a:r>
              <a:rPr sz="1250" i="1">
                <a:solidFill>
                  <a:srgbClr val="555555"/>
                </a:solidFill>
                <a:latin typeface="Calibri"/>
              </a:rPr>
              <a:t>Note. These steel-blue dashed arrows reflect an assumed temporal / conceptual ordering standard in the perinatal-epidemiology literature (e.g., sociodemographic factors treated as upstream of clinical risk factors) — they are NOT associations estimated from this dataset, and this diagram is not needed to justify the adjustment set. Why: every confounder here is still a direct parent of both T and Y (previous slide), so conditioning on each one individually blocks every path that passes through it, including any longer indirect path that runs through this ordering (a standard d-separation result: conditioning on a non-collider blocks every path through that node). No separate accounting of these indirect paths is required.
The solid orange arrow (Education → T) is the one edge into exposure drawn on this slide, shown here deliberately per Dr. Ghosh's feedback: education is the confounder whose edge into smoking is most directly defended in the proposal text, and showing it alongside the assumed ordering makes clear that this diagram's edges are not purely among confounders — one of them terminates in exposure itself. It does not add a 12th path: T ← Education → Y is already path (2) on slide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