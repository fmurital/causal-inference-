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23774400" cy="112471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194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F3864"/>
                </a:solidFill>
                <a:latin typeface="Calibri"/>
              </a:rPr>
              <a:t>Identification DAG — 11 Backdoor Paths + 1 Causal Path (Maternal Smoking → Preterm Birth)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4892040"/>
            <a:ext cx="2926080" cy="1508760"/>
          </a:xfrm>
          <a:prstGeom prst="roundRect">
            <a:avLst/>
          </a:prstGeom>
          <a:solidFill>
            <a:srgbClr val="FDE3D0"/>
          </a:solidFill>
          <a:ln w="28575">
            <a:solidFill>
              <a:srgbClr val="C1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1611A"/>
                </a:solidFill>
                <a:latin typeface="Calibri"/>
              </a:rPr>
              <a:t>Maternal smoking</a:t>
            </a:r>
          </a:p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1611A"/>
                </a:solidFill>
                <a:latin typeface="Calibri"/>
              </a:rPr>
              <a:t>during pregnancy</a:t>
            </a:r>
          </a:p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1611A"/>
                </a:solidFill>
                <a:latin typeface="Calibri"/>
              </a:rPr>
              <a:t>(exposure, 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208240" y="4892040"/>
            <a:ext cx="2926080" cy="1508760"/>
          </a:xfrm>
          <a:prstGeom prst="roundRect">
            <a:avLst/>
          </a:prstGeom>
          <a:solidFill>
            <a:srgbClr val="D9ECDD"/>
          </a:solidFill>
          <a:ln w="28575">
            <a:solidFill>
              <a:srgbClr val="23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237A3E"/>
                </a:solidFill>
                <a:latin typeface="Calibri"/>
              </a:rPr>
              <a:t>Preterm birth</a:t>
            </a:r>
          </a:p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237A3E"/>
                </a:solidFill>
                <a:latin typeface="Calibri"/>
              </a:rPr>
              <a:t>&lt; 37 weeks</a:t>
            </a:r>
          </a:p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237A3E"/>
                </a:solidFill>
                <a:latin typeface="Calibri"/>
              </a:rPr>
              <a:t>(outcome, 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94212" y="100584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Race / ethnicity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9638" y="233172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Maternal 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5063" y="100584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Education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30489" y="233172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Pre-pregnancy BMI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75914" y="100584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Parity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(nulliparous)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21340" y="233172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Insurance /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payer type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566765" y="100584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WIC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participation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412190" y="233172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Pre-pregnancy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diabetes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57616" y="100584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Pre-pregnancy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hypertension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103041" y="233172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Prior preterm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birth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948467" y="100584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Prenatal care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timing</a:t>
            </a:r>
          </a:p>
        </p:txBody>
      </p:sp>
      <p:cxnSp>
        <p:nvCxnSpPr>
          <p:cNvPr id="16" name="Connector 15"/>
          <p:cNvCxnSpPr>
            <a:stCxn id="5" idx="1"/>
            <a:endCxn id="3" idx="0"/>
          </p:cNvCxnSpPr>
          <p:nvPr/>
        </p:nvCxnSpPr>
        <p:spPr>
          <a:xfrm>
            <a:off x="1494212" y="1485900"/>
            <a:ext cx="426028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5" idx="1"/>
            <a:endCxn id="4" idx="0"/>
          </p:cNvCxnSpPr>
          <p:nvPr/>
        </p:nvCxnSpPr>
        <p:spPr>
          <a:xfrm>
            <a:off x="1494212" y="1485900"/>
            <a:ext cx="20177068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1"/>
            <a:endCxn id="3" idx="0"/>
          </p:cNvCxnSpPr>
          <p:nvPr/>
        </p:nvCxnSpPr>
        <p:spPr>
          <a:xfrm flipH="1">
            <a:off x="1920240" y="2811780"/>
            <a:ext cx="1419398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6" idx="1"/>
            <a:endCxn id="4" idx="0"/>
          </p:cNvCxnSpPr>
          <p:nvPr/>
        </p:nvCxnSpPr>
        <p:spPr>
          <a:xfrm>
            <a:off x="3339638" y="2811780"/>
            <a:ext cx="18331642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1"/>
            <a:endCxn id="3" idx="0"/>
          </p:cNvCxnSpPr>
          <p:nvPr/>
        </p:nvCxnSpPr>
        <p:spPr>
          <a:xfrm flipH="1">
            <a:off x="1920240" y="1485900"/>
            <a:ext cx="3264823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4" idx="0"/>
          </p:cNvCxnSpPr>
          <p:nvPr/>
        </p:nvCxnSpPr>
        <p:spPr>
          <a:xfrm>
            <a:off x="5185063" y="1485900"/>
            <a:ext cx="16486217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3" idx="0"/>
          </p:cNvCxnSpPr>
          <p:nvPr/>
        </p:nvCxnSpPr>
        <p:spPr>
          <a:xfrm flipH="1">
            <a:off x="1920240" y="2811780"/>
            <a:ext cx="5110249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1"/>
            <a:endCxn id="4" idx="0"/>
          </p:cNvCxnSpPr>
          <p:nvPr/>
        </p:nvCxnSpPr>
        <p:spPr>
          <a:xfrm>
            <a:off x="7030489" y="2811780"/>
            <a:ext cx="14640791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1"/>
            <a:endCxn id="3" idx="0"/>
          </p:cNvCxnSpPr>
          <p:nvPr/>
        </p:nvCxnSpPr>
        <p:spPr>
          <a:xfrm flipH="1">
            <a:off x="1920240" y="1485900"/>
            <a:ext cx="6955674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9" idx="1"/>
            <a:endCxn id="4" idx="0"/>
          </p:cNvCxnSpPr>
          <p:nvPr/>
        </p:nvCxnSpPr>
        <p:spPr>
          <a:xfrm>
            <a:off x="8875914" y="1485900"/>
            <a:ext cx="12795366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3" idx="0"/>
          </p:cNvCxnSpPr>
          <p:nvPr/>
        </p:nvCxnSpPr>
        <p:spPr>
          <a:xfrm flipH="1">
            <a:off x="1920240" y="2811780"/>
            <a:ext cx="8801100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4" idx="0"/>
          </p:cNvCxnSpPr>
          <p:nvPr/>
        </p:nvCxnSpPr>
        <p:spPr>
          <a:xfrm>
            <a:off x="10721340" y="2811780"/>
            <a:ext cx="10949940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1" idx="1"/>
            <a:endCxn id="3" idx="0"/>
          </p:cNvCxnSpPr>
          <p:nvPr/>
        </p:nvCxnSpPr>
        <p:spPr>
          <a:xfrm flipH="1">
            <a:off x="1920240" y="1485900"/>
            <a:ext cx="10646525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1" idx="1"/>
            <a:endCxn id="4" idx="0"/>
          </p:cNvCxnSpPr>
          <p:nvPr/>
        </p:nvCxnSpPr>
        <p:spPr>
          <a:xfrm>
            <a:off x="12566765" y="1485900"/>
            <a:ext cx="9104515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2" idx="1"/>
            <a:endCxn id="3" idx="0"/>
          </p:cNvCxnSpPr>
          <p:nvPr/>
        </p:nvCxnSpPr>
        <p:spPr>
          <a:xfrm flipH="1">
            <a:off x="1920240" y="2811780"/>
            <a:ext cx="12491950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1"/>
            <a:endCxn id="4" idx="0"/>
          </p:cNvCxnSpPr>
          <p:nvPr/>
        </p:nvCxnSpPr>
        <p:spPr>
          <a:xfrm>
            <a:off x="14412190" y="2811780"/>
            <a:ext cx="7259090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1"/>
            <a:endCxn id="3" idx="0"/>
          </p:cNvCxnSpPr>
          <p:nvPr/>
        </p:nvCxnSpPr>
        <p:spPr>
          <a:xfrm flipH="1">
            <a:off x="1920240" y="1485900"/>
            <a:ext cx="14337376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1"/>
            <a:endCxn id="4" idx="0"/>
          </p:cNvCxnSpPr>
          <p:nvPr/>
        </p:nvCxnSpPr>
        <p:spPr>
          <a:xfrm>
            <a:off x="16257616" y="1485900"/>
            <a:ext cx="5413664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14" idx="1"/>
            <a:endCxn id="3" idx="0"/>
          </p:cNvCxnSpPr>
          <p:nvPr/>
        </p:nvCxnSpPr>
        <p:spPr>
          <a:xfrm flipH="1">
            <a:off x="1920240" y="2811780"/>
            <a:ext cx="16182801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4" idx="1"/>
            <a:endCxn id="4" idx="0"/>
          </p:cNvCxnSpPr>
          <p:nvPr/>
        </p:nvCxnSpPr>
        <p:spPr>
          <a:xfrm>
            <a:off x="18103041" y="2811780"/>
            <a:ext cx="3568239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5" idx="1"/>
            <a:endCxn id="3" idx="0"/>
          </p:cNvCxnSpPr>
          <p:nvPr/>
        </p:nvCxnSpPr>
        <p:spPr>
          <a:xfrm flipH="1">
            <a:off x="1920240" y="1485900"/>
            <a:ext cx="18028227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5" idx="1"/>
            <a:endCxn id="4" idx="0"/>
          </p:cNvCxnSpPr>
          <p:nvPr/>
        </p:nvCxnSpPr>
        <p:spPr>
          <a:xfrm>
            <a:off x="19948467" y="1485900"/>
            <a:ext cx="1722813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3" idx="2"/>
            <a:endCxn id="4" idx="3"/>
          </p:cNvCxnSpPr>
          <p:nvPr/>
        </p:nvCxnSpPr>
        <p:spPr>
          <a:xfrm flipV="1">
            <a:off x="1920240" y="5646420"/>
            <a:ext cx="21214080" cy="754380"/>
          </a:xfrm>
          <a:prstGeom prst="line">
            <a:avLst/>
          </a:prstGeom>
          <a:ln w="50800">
            <a:solidFill>
              <a:srgbClr val="C1611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961120" y="653796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i="1">
                <a:solidFill>
                  <a:srgbClr val="C1611A"/>
                </a:solidFill>
                <a:latin typeface="Calibri"/>
              </a:rPr>
              <a:t>Causal path of interest (odds ratio, adjusted / weighted)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7040880"/>
            <a:ext cx="2267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i="0">
                <a:solidFill>
                  <a:srgbClr val="1A2233"/>
                </a:solidFill>
                <a:latin typeface="Calibri"/>
              </a:rPr>
              <a:t>Paths in this diagram — 12 total, all blocked or estimated once the propensity-score adjustment is applied:
•  1 causal path:  T → Y  (the effect being estimated)
•  11 backdoor paths, one per confounder Xi:  T ← Xi → Y  (each is blocked by conditioning on Xi in the propensity-score model)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8001000"/>
            <a:ext cx="2267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i="0">
                <a:solidFill>
                  <a:srgbClr val="1F3864"/>
                </a:solidFill>
                <a:latin typeface="Calibri"/>
              </a:rPr>
              <a:t>Minimal sufficient adjustment set, Z (11 variables): {Maternal age, Race/ethnicity, Education, Prenatal-care timing, WIC participation, Parity, Prior preterm birth, Pre-pregnancy diabetes, Pre-pregnancy hypertension, Pre-pregnancy BMI, Insurance/payer type}. Sufficient: conditioning on Z blocks all 11 backdoor paths above (each Xi sits on exactly one). Minimal: no Xi can be dropped from Z, since each is the only node on its own backdoor path — dropping it leaves that path unblocked; and Z contains no mediator or collider of T → Y, so nothing in Z should be dropped for that reason either.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9098280"/>
            <a:ext cx="2267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555555"/>
                </a:solidFill>
                <a:latin typeface="Calibri"/>
              </a:rPr>
              <a:t>All 11 confounders are direct parents of both T and Y, so conditioning on each one blocks every backdoor path shown here. A second, supplementary diagram (next slide) shows an assumed ordering AMONG the confounders themselves; see its note for why those additional indirect paths do not require separate treatment.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3977639"/>
            <a:ext cx="320040" cy="228600"/>
          </a:xfrm>
          <a:prstGeom prst="roundRect">
            <a:avLst/>
          </a:prstGeom>
          <a:solidFill>
            <a:srgbClr val="EEF2F7"/>
          </a:solidFill>
          <a:ln w="15875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913631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A2233"/>
                </a:solidFill>
                <a:latin typeface="Calibri"/>
              </a:rPr>
              <a:t>Confounder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8960" y="3977639"/>
            <a:ext cx="320040" cy="228600"/>
          </a:xfrm>
          <a:prstGeom prst="roundRect">
            <a:avLst/>
          </a:prstGeom>
          <a:solidFill>
            <a:srgbClr val="FDE3D0"/>
          </a:solidFill>
          <a:ln w="15875">
            <a:solidFill>
              <a:srgbClr val="C1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0440" y="3913631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A2233"/>
                </a:solidFill>
                <a:latin typeface="Calibri"/>
              </a:rPr>
              <a:t>Exposure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0" y="3977639"/>
            <a:ext cx="320040" cy="228600"/>
          </a:xfrm>
          <a:prstGeom prst="roundRect">
            <a:avLst/>
          </a:prstGeom>
          <a:solidFill>
            <a:srgbClr val="D9ECDD"/>
          </a:solidFill>
          <a:ln w="15875">
            <a:solidFill>
              <a:srgbClr val="23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97880" y="3913631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A2233"/>
                </a:solidFill>
                <a:latin typeface="Calibri"/>
              </a:rPr>
              <a:t>Outcome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194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F3864"/>
                </a:solidFill>
                <a:latin typeface="Calibri"/>
              </a:rPr>
              <a:t>Supplementary: Assumed Ordering Among the 11 Confounders (Not Part of the Adjustment-Set Argument)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19" y="9144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Race / ethnicity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727680" y="9144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Maternal 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59" y="27432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Education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599" y="27432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Pre-pregnancy BMI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465039" y="27432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Parity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(nulliparous)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76272" y="45720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Insurance /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payer type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5936" y="45720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WIC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participation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599" y="45720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Pre-pregnancy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diabetes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85263" y="45720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Pre-pregnancy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hypertension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854928" y="45720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Prior preterm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birth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599" y="64008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Prenatal care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timing</a:t>
            </a:r>
          </a:p>
        </p:txBody>
      </p:sp>
      <p:cxnSp>
        <p:nvCxnSpPr>
          <p:cNvPr id="14" name="Connector 13"/>
          <p:cNvCxnSpPr>
            <a:stCxn id="3" idx="1"/>
            <a:endCxn id="5" idx="0"/>
          </p:cNvCxnSpPr>
          <p:nvPr/>
        </p:nvCxnSpPr>
        <p:spPr>
          <a:xfrm flipH="1">
            <a:off x="4937759" y="1394460"/>
            <a:ext cx="365760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3" idx="1"/>
            <a:endCxn id="8" idx="0"/>
          </p:cNvCxnSpPr>
          <p:nvPr/>
        </p:nvCxnSpPr>
        <p:spPr>
          <a:xfrm flipH="1">
            <a:off x="3547872" y="1394460"/>
            <a:ext cx="1755647" cy="31775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4" idx="1"/>
            <a:endCxn id="7" idx="0"/>
          </p:cNvCxnSpPr>
          <p:nvPr/>
        </p:nvCxnSpPr>
        <p:spPr>
          <a:xfrm>
            <a:off x="15727680" y="1394460"/>
            <a:ext cx="3108959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4" idx="1"/>
            <a:endCxn id="6" idx="0"/>
          </p:cNvCxnSpPr>
          <p:nvPr/>
        </p:nvCxnSpPr>
        <p:spPr>
          <a:xfrm flipH="1">
            <a:off x="11887199" y="1394460"/>
            <a:ext cx="3840481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8" idx="0"/>
          </p:cNvCxnSpPr>
          <p:nvPr/>
        </p:nvCxnSpPr>
        <p:spPr>
          <a:xfrm flipH="1">
            <a:off x="3547872" y="3223260"/>
            <a:ext cx="18287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9" idx="0"/>
          </p:cNvCxnSpPr>
          <p:nvPr/>
        </p:nvCxnSpPr>
        <p:spPr>
          <a:xfrm>
            <a:off x="3566159" y="3223260"/>
            <a:ext cx="4151377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10" idx="0"/>
          </p:cNvCxnSpPr>
          <p:nvPr/>
        </p:nvCxnSpPr>
        <p:spPr>
          <a:xfrm>
            <a:off x="10515599" y="3223260"/>
            <a:ext cx="1371600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6" idx="1"/>
            <a:endCxn id="11" idx="0"/>
          </p:cNvCxnSpPr>
          <p:nvPr/>
        </p:nvCxnSpPr>
        <p:spPr>
          <a:xfrm>
            <a:off x="10515599" y="3223260"/>
            <a:ext cx="5541264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7" idx="1"/>
            <a:endCxn id="12" idx="0"/>
          </p:cNvCxnSpPr>
          <p:nvPr/>
        </p:nvCxnSpPr>
        <p:spPr>
          <a:xfrm>
            <a:off x="17465039" y="3223260"/>
            <a:ext cx="2761489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1"/>
            <a:endCxn id="13" idx="0"/>
          </p:cNvCxnSpPr>
          <p:nvPr/>
        </p:nvCxnSpPr>
        <p:spPr>
          <a:xfrm>
            <a:off x="2176272" y="5052060"/>
            <a:ext cx="9710927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1"/>
            <a:endCxn id="13" idx="0"/>
          </p:cNvCxnSpPr>
          <p:nvPr/>
        </p:nvCxnSpPr>
        <p:spPr>
          <a:xfrm>
            <a:off x="6345936" y="5052060"/>
            <a:ext cx="5541263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7955279"/>
            <a:ext cx="2267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i="1">
                <a:solidFill>
                  <a:srgbClr val="555555"/>
                </a:solidFill>
                <a:latin typeface="Calibri"/>
              </a:rPr>
              <a:t>Note. These steel-blue dashed arrows reflect an assumed temporal / conceptual ordering standard in the perinatal-epidemiology literature (e.g., sociodemographic factors treated as upstream of clinical risk factors) — they are NOT associations estimated from this dataset, and this diagram is not needed to justify the adjustment set. Why: every confounder here is still a direct parent of both T and Y (previous slide), so conditioning on each one individually blocks every path that passes through it, including any longer indirect path that runs through this ordering (a standard d-separation result: conditioning on a non-collider blocks every path through that node). No separate accounting of these indirect paths is required.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