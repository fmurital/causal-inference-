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23774400" cy="112471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"/>
            <a:ext cx="2194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3864"/>
                </a:solidFill>
                <a:latin typeface="Calibri"/>
              </a:rPr>
              <a:t>Identification DAG — 10 Backdoor Paths + 1 Causal Path (Maternal Smoking → Preterm Birth)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4892040"/>
            <a:ext cx="2926080" cy="1508760"/>
          </a:xfrm>
          <a:prstGeom prst="roundRect">
            <a:avLst/>
          </a:prstGeom>
          <a:solidFill>
            <a:srgbClr val="FDE3D0"/>
          </a:solidFill>
          <a:ln w="28575">
            <a:solidFill>
              <a:srgbClr val="C1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C1611A"/>
                </a:solidFill>
                <a:latin typeface="Calibri"/>
              </a:rPr>
              <a:t>Maternal smoking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C1611A"/>
                </a:solidFill>
                <a:latin typeface="Calibri"/>
              </a:rPr>
              <a:t>during pregnancy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C1611A"/>
                </a:solidFill>
                <a:latin typeface="Calibri"/>
              </a:rPr>
              <a:t>(exposure, 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208240" y="4892040"/>
            <a:ext cx="2926080" cy="1508760"/>
          </a:xfrm>
          <a:prstGeom prst="roundRect">
            <a:avLst/>
          </a:prstGeom>
          <a:solidFill>
            <a:srgbClr val="D9ECDD"/>
          </a:solidFill>
          <a:ln w="28575">
            <a:solidFill>
              <a:srgbClr val="23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37A3E"/>
                </a:solidFill>
                <a:latin typeface="Calibri"/>
              </a:rPr>
              <a:t>Preterm birth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37A3E"/>
                </a:solidFill>
                <a:latin typeface="Calibri"/>
              </a:rPr>
              <a:t>&lt; 37 weeks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37A3E"/>
                </a:solidFill>
                <a:latin typeface="Calibri"/>
              </a:rPr>
              <a:t>(outcome, 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86484" y="1005840"/>
            <a:ext cx="2331720" cy="9601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A2233"/>
                </a:solidFill>
                <a:latin typeface="Calibri"/>
              </a:rPr>
              <a:t>Race / ethnicity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6451" y="2331720"/>
            <a:ext cx="2331720" cy="9601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A2233"/>
                </a:solidFill>
                <a:latin typeface="Calibri"/>
              </a:rPr>
              <a:t>Maternal 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46419" y="1005840"/>
            <a:ext cx="2331720" cy="9601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A2233"/>
                </a:solidFill>
                <a:latin typeface="Calibri"/>
              </a:rPr>
              <a:t>Education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76388" y="2331720"/>
            <a:ext cx="2331720" cy="9601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A2233"/>
                </a:solidFill>
                <a:latin typeface="Calibri"/>
              </a:rPr>
              <a:t>Pre-pregnancy BMI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06355" y="1005840"/>
            <a:ext cx="2331720" cy="9601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A2233"/>
                </a:solidFill>
                <a:latin typeface="Calibri"/>
              </a:rPr>
              <a:t>Parity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A2233"/>
                </a:solidFill>
                <a:latin typeface="Calibri"/>
              </a:rPr>
              <a:t>(nulliparous)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736324" y="2331720"/>
            <a:ext cx="2331720" cy="9601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A2233"/>
                </a:solidFill>
                <a:latin typeface="Calibri"/>
              </a:rPr>
              <a:t>WIC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A2233"/>
                </a:solidFill>
                <a:latin typeface="Calibri"/>
              </a:rPr>
              <a:t>participation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66291" y="1005840"/>
            <a:ext cx="2331720" cy="9601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A2233"/>
                </a:solidFill>
                <a:latin typeface="Calibri"/>
              </a:rPr>
              <a:t>Pre-pregnancy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A2233"/>
                </a:solidFill>
                <a:latin typeface="Calibri"/>
              </a:rPr>
              <a:t>diabetes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796259" y="2331720"/>
            <a:ext cx="2331720" cy="9601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A2233"/>
                </a:solidFill>
                <a:latin typeface="Calibri"/>
              </a:rPr>
              <a:t>Pre-pregnancy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A2233"/>
                </a:solidFill>
                <a:latin typeface="Calibri"/>
              </a:rPr>
              <a:t>hypertension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826227" y="1005840"/>
            <a:ext cx="2331720" cy="9601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A2233"/>
                </a:solidFill>
                <a:latin typeface="Calibri"/>
              </a:rPr>
              <a:t>Prior preterm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A2233"/>
                </a:solidFill>
                <a:latin typeface="Calibri"/>
              </a:rPr>
              <a:t>birth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856196" y="2331720"/>
            <a:ext cx="2331720" cy="9601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A2233"/>
                </a:solidFill>
                <a:latin typeface="Calibri"/>
              </a:rPr>
              <a:t>Prenatal care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A2233"/>
                </a:solidFill>
                <a:latin typeface="Calibri"/>
              </a:rPr>
              <a:t>timing</a:t>
            </a:r>
          </a:p>
        </p:txBody>
      </p:sp>
      <p:cxnSp>
        <p:nvCxnSpPr>
          <p:cNvPr id="15" name="Connector 14"/>
          <p:cNvCxnSpPr>
            <a:stCxn id="5" idx="1"/>
            <a:endCxn id="3" idx="0"/>
          </p:cNvCxnSpPr>
          <p:nvPr/>
        </p:nvCxnSpPr>
        <p:spPr>
          <a:xfrm>
            <a:off x="1586484" y="1485900"/>
            <a:ext cx="333756" cy="3406140"/>
          </a:xfrm>
          <a:prstGeom prst="line">
            <a:avLst/>
          </a:prstGeom>
          <a:ln w="12700">
            <a:solidFill>
              <a:srgbClr val="9AA5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5" idx="1"/>
            <a:endCxn id="4" idx="0"/>
          </p:cNvCxnSpPr>
          <p:nvPr/>
        </p:nvCxnSpPr>
        <p:spPr>
          <a:xfrm>
            <a:off x="1586484" y="1485900"/>
            <a:ext cx="20084796" cy="3406140"/>
          </a:xfrm>
          <a:prstGeom prst="line">
            <a:avLst/>
          </a:prstGeom>
          <a:ln w="12700">
            <a:solidFill>
              <a:srgbClr val="9AA5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6" idx="1"/>
            <a:endCxn id="3" idx="0"/>
          </p:cNvCxnSpPr>
          <p:nvPr/>
        </p:nvCxnSpPr>
        <p:spPr>
          <a:xfrm flipH="1">
            <a:off x="1920240" y="2811780"/>
            <a:ext cx="1696211" cy="2080260"/>
          </a:xfrm>
          <a:prstGeom prst="line">
            <a:avLst/>
          </a:prstGeom>
          <a:ln w="12700">
            <a:solidFill>
              <a:srgbClr val="9AA5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6" idx="1"/>
            <a:endCxn id="4" idx="0"/>
          </p:cNvCxnSpPr>
          <p:nvPr/>
        </p:nvCxnSpPr>
        <p:spPr>
          <a:xfrm>
            <a:off x="3616451" y="2811780"/>
            <a:ext cx="18054829" cy="2080260"/>
          </a:xfrm>
          <a:prstGeom prst="line">
            <a:avLst/>
          </a:prstGeom>
          <a:ln w="12700">
            <a:solidFill>
              <a:srgbClr val="9AA5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7" idx="1"/>
            <a:endCxn id="3" idx="0"/>
          </p:cNvCxnSpPr>
          <p:nvPr/>
        </p:nvCxnSpPr>
        <p:spPr>
          <a:xfrm flipH="1">
            <a:off x="1920240" y="1485900"/>
            <a:ext cx="3726179" cy="3406140"/>
          </a:xfrm>
          <a:prstGeom prst="line">
            <a:avLst/>
          </a:prstGeom>
          <a:ln w="12700">
            <a:solidFill>
              <a:srgbClr val="9AA5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7" idx="1"/>
            <a:endCxn id="4" idx="0"/>
          </p:cNvCxnSpPr>
          <p:nvPr/>
        </p:nvCxnSpPr>
        <p:spPr>
          <a:xfrm>
            <a:off x="5646419" y="1485900"/>
            <a:ext cx="16024861" cy="3406140"/>
          </a:xfrm>
          <a:prstGeom prst="line">
            <a:avLst/>
          </a:prstGeom>
          <a:ln w="12700">
            <a:solidFill>
              <a:srgbClr val="9AA5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8" idx="1"/>
            <a:endCxn id="3" idx="0"/>
          </p:cNvCxnSpPr>
          <p:nvPr/>
        </p:nvCxnSpPr>
        <p:spPr>
          <a:xfrm flipH="1">
            <a:off x="1920240" y="2811780"/>
            <a:ext cx="5756148" cy="2080260"/>
          </a:xfrm>
          <a:prstGeom prst="line">
            <a:avLst/>
          </a:prstGeom>
          <a:ln w="12700">
            <a:solidFill>
              <a:srgbClr val="9AA5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8" idx="1"/>
            <a:endCxn id="4" idx="0"/>
          </p:cNvCxnSpPr>
          <p:nvPr/>
        </p:nvCxnSpPr>
        <p:spPr>
          <a:xfrm>
            <a:off x="7676388" y="2811780"/>
            <a:ext cx="13994892" cy="2080260"/>
          </a:xfrm>
          <a:prstGeom prst="line">
            <a:avLst/>
          </a:prstGeom>
          <a:ln w="12700">
            <a:solidFill>
              <a:srgbClr val="9AA5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9" idx="1"/>
            <a:endCxn id="3" idx="0"/>
          </p:cNvCxnSpPr>
          <p:nvPr/>
        </p:nvCxnSpPr>
        <p:spPr>
          <a:xfrm flipH="1">
            <a:off x="1920240" y="1485900"/>
            <a:ext cx="7786115" cy="3406140"/>
          </a:xfrm>
          <a:prstGeom prst="line">
            <a:avLst/>
          </a:prstGeom>
          <a:ln w="12700">
            <a:solidFill>
              <a:srgbClr val="9AA5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9" idx="1"/>
            <a:endCxn id="4" idx="0"/>
          </p:cNvCxnSpPr>
          <p:nvPr/>
        </p:nvCxnSpPr>
        <p:spPr>
          <a:xfrm>
            <a:off x="9706355" y="1485900"/>
            <a:ext cx="11964925" cy="3406140"/>
          </a:xfrm>
          <a:prstGeom prst="line">
            <a:avLst/>
          </a:prstGeom>
          <a:ln w="12700">
            <a:solidFill>
              <a:srgbClr val="9AA5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10" idx="1"/>
            <a:endCxn id="3" idx="0"/>
          </p:cNvCxnSpPr>
          <p:nvPr/>
        </p:nvCxnSpPr>
        <p:spPr>
          <a:xfrm flipH="1">
            <a:off x="1920240" y="2811780"/>
            <a:ext cx="9816084" cy="2080260"/>
          </a:xfrm>
          <a:prstGeom prst="line">
            <a:avLst/>
          </a:prstGeom>
          <a:ln w="12700">
            <a:solidFill>
              <a:srgbClr val="9AA5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0" idx="1"/>
            <a:endCxn id="4" idx="0"/>
          </p:cNvCxnSpPr>
          <p:nvPr/>
        </p:nvCxnSpPr>
        <p:spPr>
          <a:xfrm>
            <a:off x="11736324" y="2811780"/>
            <a:ext cx="9934956" cy="2080260"/>
          </a:xfrm>
          <a:prstGeom prst="line">
            <a:avLst/>
          </a:prstGeom>
          <a:ln w="12700">
            <a:solidFill>
              <a:srgbClr val="9AA5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1" idx="1"/>
            <a:endCxn id="3" idx="0"/>
          </p:cNvCxnSpPr>
          <p:nvPr/>
        </p:nvCxnSpPr>
        <p:spPr>
          <a:xfrm flipH="1">
            <a:off x="1920240" y="1485900"/>
            <a:ext cx="11846051" cy="3406140"/>
          </a:xfrm>
          <a:prstGeom prst="line">
            <a:avLst/>
          </a:prstGeom>
          <a:ln w="12700">
            <a:solidFill>
              <a:srgbClr val="9AA5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11" idx="1"/>
            <a:endCxn id="4" idx="0"/>
          </p:cNvCxnSpPr>
          <p:nvPr/>
        </p:nvCxnSpPr>
        <p:spPr>
          <a:xfrm>
            <a:off x="13766291" y="1485900"/>
            <a:ext cx="7904989" cy="3406140"/>
          </a:xfrm>
          <a:prstGeom prst="line">
            <a:avLst/>
          </a:prstGeom>
          <a:ln w="12700">
            <a:solidFill>
              <a:srgbClr val="9AA5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12" idx="1"/>
            <a:endCxn id="3" idx="0"/>
          </p:cNvCxnSpPr>
          <p:nvPr/>
        </p:nvCxnSpPr>
        <p:spPr>
          <a:xfrm flipH="1">
            <a:off x="1920240" y="2811780"/>
            <a:ext cx="13876019" cy="2080260"/>
          </a:xfrm>
          <a:prstGeom prst="line">
            <a:avLst/>
          </a:prstGeom>
          <a:ln w="12700">
            <a:solidFill>
              <a:srgbClr val="9AA5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12" idx="1"/>
            <a:endCxn id="4" idx="0"/>
          </p:cNvCxnSpPr>
          <p:nvPr/>
        </p:nvCxnSpPr>
        <p:spPr>
          <a:xfrm>
            <a:off x="15796259" y="2811780"/>
            <a:ext cx="5875021" cy="2080260"/>
          </a:xfrm>
          <a:prstGeom prst="line">
            <a:avLst/>
          </a:prstGeom>
          <a:ln w="12700">
            <a:solidFill>
              <a:srgbClr val="9AA5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13" idx="1"/>
            <a:endCxn id="3" idx="0"/>
          </p:cNvCxnSpPr>
          <p:nvPr/>
        </p:nvCxnSpPr>
        <p:spPr>
          <a:xfrm flipH="1">
            <a:off x="1920240" y="1485900"/>
            <a:ext cx="15905987" cy="3406140"/>
          </a:xfrm>
          <a:prstGeom prst="line">
            <a:avLst/>
          </a:prstGeom>
          <a:ln w="12700">
            <a:solidFill>
              <a:srgbClr val="9AA5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13" idx="1"/>
            <a:endCxn id="4" idx="0"/>
          </p:cNvCxnSpPr>
          <p:nvPr/>
        </p:nvCxnSpPr>
        <p:spPr>
          <a:xfrm>
            <a:off x="17826227" y="1485900"/>
            <a:ext cx="3845053" cy="3406140"/>
          </a:xfrm>
          <a:prstGeom prst="line">
            <a:avLst/>
          </a:prstGeom>
          <a:ln w="12700">
            <a:solidFill>
              <a:srgbClr val="9AA5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14" idx="1"/>
            <a:endCxn id="3" idx="0"/>
          </p:cNvCxnSpPr>
          <p:nvPr/>
        </p:nvCxnSpPr>
        <p:spPr>
          <a:xfrm flipH="1">
            <a:off x="1920240" y="2811780"/>
            <a:ext cx="17935956" cy="2080260"/>
          </a:xfrm>
          <a:prstGeom prst="line">
            <a:avLst/>
          </a:prstGeom>
          <a:ln w="12700">
            <a:solidFill>
              <a:srgbClr val="9AA5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14" idx="1"/>
            <a:endCxn id="4" idx="0"/>
          </p:cNvCxnSpPr>
          <p:nvPr/>
        </p:nvCxnSpPr>
        <p:spPr>
          <a:xfrm>
            <a:off x="19856196" y="2811780"/>
            <a:ext cx="1815084" cy="2080260"/>
          </a:xfrm>
          <a:prstGeom prst="line">
            <a:avLst/>
          </a:prstGeom>
          <a:ln w="12700">
            <a:solidFill>
              <a:srgbClr val="9AA5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3" idx="2"/>
            <a:endCxn id="4" idx="3"/>
          </p:cNvCxnSpPr>
          <p:nvPr/>
        </p:nvCxnSpPr>
        <p:spPr>
          <a:xfrm flipV="1">
            <a:off x="1920240" y="5646420"/>
            <a:ext cx="21214080" cy="754380"/>
          </a:xfrm>
          <a:prstGeom prst="line">
            <a:avLst/>
          </a:prstGeom>
          <a:ln w="50800">
            <a:solidFill>
              <a:srgbClr val="C1611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961120" y="653796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i="1">
                <a:solidFill>
                  <a:srgbClr val="C1611A"/>
                </a:solidFill>
                <a:latin typeface="Calibri"/>
              </a:rPr>
              <a:t>Causal path of interest (odds ratio, adjusted / weighted)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7040880"/>
            <a:ext cx="2267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i="0">
                <a:solidFill>
                  <a:srgbClr val="1A2233"/>
                </a:solidFill>
                <a:latin typeface="Calibri"/>
              </a:rPr>
              <a:t>Paths in this diagram — 11 total, all blocked or estimated once the propensity-score adjustment is applied:
•  1 causal path:  T → Y  (the effect being estimated)
•  10 backdoor paths, one per confounder Xi:  T ← Xi → Y  (each is blocked by conditioning on Xi in the propensity-score model)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8001000"/>
            <a:ext cx="2267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i="0">
                <a:solidFill>
                  <a:srgbClr val="1F3864"/>
                </a:solidFill>
                <a:latin typeface="Calibri"/>
              </a:rPr>
              <a:t>Minimal sufficient adjustment set, Z (10 variables): {Maternal age, Race/ethnicity, Education, Prenatal-care timing, WIC participation, Parity, Prior preterm birth, Pre-pregnancy diabetes, Pre-pregnancy hypertension, Pre-pregnancy BMI}. Sufficient: conditioning on Z blocks all 10 backdoor paths above (each Xi sits on exactly one). Minimal: no Xi can be dropped from Z, since each is the only node on its own backdoor path — dropping it leaves that path unblocked; and Z contains no mediator or collider of T → Y, so nothing in Z should be dropped for that reason either.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9098280"/>
            <a:ext cx="2267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555555"/>
                </a:solidFill>
                <a:latin typeface="Calibri"/>
              </a:rPr>
              <a:t>Each edge into T above was individually defended (not defaulted): a node is a parent of T only if it plausibly influences smoking behavior itself, not merely the outcome. Insurance/payer type was considered and excluded on exactly this test — see the proposal text for the full node-by-node defense, including why it is still discussed despite its empirical correlation with smoking. A second, supplementary diagram (next slide) shows an assumed ordering AMONG the confounders themselves; see its note for why those additional indirect paths do not require separate treatment.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3977639"/>
            <a:ext cx="320040" cy="228600"/>
          </a:xfrm>
          <a:prstGeom prst="roundRect">
            <a:avLst/>
          </a:prstGeom>
          <a:solidFill>
            <a:srgbClr val="EEF2F7"/>
          </a:solidFill>
          <a:ln w="1587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3913631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A2233"/>
                </a:solidFill>
                <a:latin typeface="Calibri"/>
              </a:rPr>
              <a:t>Confounder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08960" y="3977639"/>
            <a:ext cx="320040" cy="228600"/>
          </a:xfrm>
          <a:prstGeom prst="roundRect">
            <a:avLst/>
          </a:prstGeom>
          <a:solidFill>
            <a:srgbClr val="FDE3D0"/>
          </a:solidFill>
          <a:ln w="15875">
            <a:solidFill>
              <a:srgbClr val="C1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20440" y="3913631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A2233"/>
                </a:solidFill>
                <a:latin typeface="Calibri"/>
              </a:rPr>
              <a:t>Exposure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0" y="3977639"/>
            <a:ext cx="320040" cy="228600"/>
          </a:xfrm>
          <a:prstGeom prst="roundRect">
            <a:avLst/>
          </a:prstGeom>
          <a:solidFill>
            <a:srgbClr val="D9ECDD"/>
          </a:solidFill>
          <a:ln w="15875">
            <a:solidFill>
              <a:srgbClr val="23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97880" y="3913631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A2233"/>
                </a:solidFill>
                <a:latin typeface="Calibri"/>
              </a:rPr>
              <a:t>Outcome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"/>
            <a:ext cx="2194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3864"/>
                </a:solidFill>
                <a:latin typeface="Calibri"/>
              </a:rPr>
              <a:t>Supplementary: Assumed Ordering Among the 10 Confounders (Not Part of the Adjustment-Set Argument)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03519" y="914400"/>
            <a:ext cx="2743200" cy="9601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A2233"/>
                </a:solidFill>
                <a:latin typeface="Calibri"/>
              </a:rPr>
              <a:t>Race / ethnicity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727680" y="914400"/>
            <a:ext cx="2743200" cy="9601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A2233"/>
                </a:solidFill>
                <a:latin typeface="Calibri"/>
              </a:rPr>
              <a:t>Maternal 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59" y="2743200"/>
            <a:ext cx="2743200" cy="9601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A2233"/>
                </a:solidFill>
                <a:latin typeface="Calibri"/>
              </a:rPr>
              <a:t>Education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599" y="2743200"/>
            <a:ext cx="2743200" cy="9601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A2233"/>
                </a:solidFill>
                <a:latin typeface="Calibri"/>
              </a:rPr>
              <a:t>Pre-pregnancy BMI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465039" y="2743200"/>
            <a:ext cx="2743200" cy="9601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A2233"/>
                </a:solidFill>
                <a:latin typeface="Calibri"/>
              </a:rPr>
              <a:t>Parity</a:t>
            </a:r>
          </a:p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A2233"/>
                </a:solidFill>
                <a:latin typeface="Calibri"/>
              </a:rPr>
              <a:t>(nulliparous)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79" y="4572000"/>
            <a:ext cx="2743200" cy="9601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A2233"/>
                </a:solidFill>
                <a:latin typeface="Calibri"/>
              </a:rPr>
              <a:t>WIC</a:t>
            </a:r>
          </a:p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A2233"/>
                </a:solidFill>
                <a:latin typeface="Calibri"/>
              </a:rPr>
              <a:t>participation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59" y="4572000"/>
            <a:ext cx="2743200" cy="9601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A2233"/>
                </a:solidFill>
                <a:latin typeface="Calibri"/>
              </a:rPr>
              <a:t>Pre-pregnancy</a:t>
            </a:r>
          </a:p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A2233"/>
                </a:solidFill>
                <a:latin typeface="Calibri"/>
              </a:rPr>
              <a:t>diabetes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121639" y="4572000"/>
            <a:ext cx="2743200" cy="9601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A2233"/>
                </a:solidFill>
                <a:latin typeface="Calibri"/>
              </a:rPr>
              <a:t>Pre-pregnancy</a:t>
            </a:r>
          </a:p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A2233"/>
                </a:solidFill>
                <a:latin typeface="Calibri"/>
              </a:rPr>
              <a:t>hypertension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333719" y="4572000"/>
            <a:ext cx="2743200" cy="9601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A2233"/>
                </a:solidFill>
                <a:latin typeface="Calibri"/>
              </a:rPr>
              <a:t>Prior preterm</a:t>
            </a:r>
          </a:p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A2233"/>
                </a:solidFill>
                <a:latin typeface="Calibri"/>
              </a:rPr>
              <a:t>birth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599" y="6400800"/>
            <a:ext cx="2743200" cy="96012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A2233"/>
                </a:solidFill>
                <a:latin typeface="Calibri"/>
              </a:rPr>
              <a:t>Prenatal care</a:t>
            </a:r>
          </a:p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A2233"/>
                </a:solidFill>
                <a:latin typeface="Calibri"/>
              </a:rPr>
              <a:t>timing</a:t>
            </a:r>
          </a:p>
        </p:txBody>
      </p:sp>
      <p:cxnSp>
        <p:nvCxnSpPr>
          <p:cNvPr id="13" name="Connector 12"/>
          <p:cNvCxnSpPr>
            <a:stCxn id="3" idx="1"/>
            <a:endCxn id="5" idx="0"/>
          </p:cNvCxnSpPr>
          <p:nvPr/>
        </p:nvCxnSpPr>
        <p:spPr>
          <a:xfrm flipH="1">
            <a:off x="4937759" y="1394460"/>
            <a:ext cx="365760" cy="1348740"/>
          </a:xfrm>
          <a:prstGeom prst="line">
            <a:avLst/>
          </a:prstGeom>
          <a:ln w="22225">
            <a:solidFill>
              <a:srgbClr val="2F5C8A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4" idx="1"/>
            <a:endCxn id="7" idx="0"/>
          </p:cNvCxnSpPr>
          <p:nvPr/>
        </p:nvCxnSpPr>
        <p:spPr>
          <a:xfrm>
            <a:off x="15727680" y="1394460"/>
            <a:ext cx="3108959" cy="1348740"/>
          </a:xfrm>
          <a:prstGeom prst="line">
            <a:avLst/>
          </a:prstGeom>
          <a:ln w="22225">
            <a:solidFill>
              <a:srgbClr val="2F5C8A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4" idx="1"/>
            <a:endCxn id="6" idx="0"/>
          </p:cNvCxnSpPr>
          <p:nvPr/>
        </p:nvCxnSpPr>
        <p:spPr>
          <a:xfrm flipH="1">
            <a:off x="11887199" y="1394460"/>
            <a:ext cx="3840481" cy="1348740"/>
          </a:xfrm>
          <a:prstGeom prst="line">
            <a:avLst/>
          </a:prstGeom>
          <a:ln w="22225">
            <a:solidFill>
              <a:srgbClr val="2F5C8A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5" idx="1"/>
            <a:endCxn id="8" idx="0"/>
          </p:cNvCxnSpPr>
          <p:nvPr/>
        </p:nvCxnSpPr>
        <p:spPr>
          <a:xfrm>
            <a:off x="3566159" y="3223260"/>
            <a:ext cx="502920" cy="1348740"/>
          </a:xfrm>
          <a:prstGeom prst="line">
            <a:avLst/>
          </a:prstGeom>
          <a:ln w="22225">
            <a:solidFill>
              <a:srgbClr val="2F5C8A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6" idx="1"/>
            <a:endCxn id="9" idx="0"/>
          </p:cNvCxnSpPr>
          <p:nvPr/>
        </p:nvCxnSpPr>
        <p:spPr>
          <a:xfrm flipH="1">
            <a:off x="9281159" y="3223260"/>
            <a:ext cx="1234440" cy="1348740"/>
          </a:xfrm>
          <a:prstGeom prst="line">
            <a:avLst/>
          </a:prstGeom>
          <a:ln w="22225">
            <a:solidFill>
              <a:srgbClr val="2F5C8A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6" idx="1"/>
            <a:endCxn id="10" idx="0"/>
          </p:cNvCxnSpPr>
          <p:nvPr/>
        </p:nvCxnSpPr>
        <p:spPr>
          <a:xfrm>
            <a:off x="10515599" y="3223260"/>
            <a:ext cx="3977640" cy="1348740"/>
          </a:xfrm>
          <a:prstGeom prst="line">
            <a:avLst/>
          </a:prstGeom>
          <a:ln w="22225">
            <a:solidFill>
              <a:srgbClr val="2F5C8A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7" idx="1"/>
            <a:endCxn id="11" idx="0"/>
          </p:cNvCxnSpPr>
          <p:nvPr/>
        </p:nvCxnSpPr>
        <p:spPr>
          <a:xfrm>
            <a:off x="17465039" y="3223260"/>
            <a:ext cx="2240280" cy="1348740"/>
          </a:xfrm>
          <a:prstGeom prst="line">
            <a:avLst/>
          </a:prstGeom>
          <a:ln w="22225">
            <a:solidFill>
              <a:srgbClr val="2F5C8A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8" idx="1"/>
            <a:endCxn id="12" idx="0"/>
          </p:cNvCxnSpPr>
          <p:nvPr/>
        </p:nvCxnSpPr>
        <p:spPr>
          <a:xfrm>
            <a:off x="2697479" y="5052060"/>
            <a:ext cx="9189720" cy="1348740"/>
          </a:xfrm>
          <a:prstGeom prst="line">
            <a:avLst/>
          </a:prstGeom>
          <a:ln w="22225">
            <a:solidFill>
              <a:srgbClr val="2F5C8A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7955279"/>
            <a:ext cx="2267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i="1">
                <a:solidFill>
                  <a:srgbClr val="555555"/>
                </a:solidFill>
                <a:latin typeface="Calibri"/>
              </a:rPr>
              <a:t>Note. These steel-blue dashed arrows reflect an assumed temporal / conceptual ordering standard in the perinatal-epidemiology literature (e.g., sociodemographic factors treated as upstream of clinical risk factors) — they are NOT associations estimated from this dataset, and this diagram is not needed to justify the adjustment set. Why: every confounder here is still a direct parent of both T and Y (previous slide), so conditioning on each one individually blocks every path that passes through it, including any longer indirect path that runs through this ordering (a standard d-separation result: conditioning on a non-collider blocks every path through that node). No separate accounting of these indirect paths is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