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D9A441"/>
                </a:solidFill>
                <a:latin typeface="Calibri"/>
              </a:rPr>
              <a:t>SEASUG 2026 CONFERENCE  ·  PAPER #103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Applying Propensity Score Matching</a:t>
            </a:r>
          </a:p>
          <a:p>
            <a:pPr algn="ctr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to Evaluate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1">
                <a:solidFill>
                  <a:srgbClr val="C9D6E8"/>
                </a:solidFill>
                <a:latin typeface="Calibri"/>
              </a:rPr>
              <a:t>A Doubly-Robust Propensity-Score Analysis of Maternal Smoking</a:t>
            </a:r>
          </a:p>
          <a:p>
            <a:pPr algn="ctr">
              <a:lnSpc>
                <a:spcPct val="120000"/>
              </a:lnSpc>
            </a:pPr>
            <a:r>
              <a:rPr sz="1700" b="0" i="1">
                <a:solidFill>
                  <a:srgbClr val="C9D6E8"/>
                </a:solidFill>
                <a:latin typeface="Calibri"/>
              </a:rPr>
              <a:t>and Preterm Birth in the 2023 U.S. Natality Cohort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7448" y="4892040"/>
            <a:ext cx="2743200" cy="0"/>
          </a:xfrm>
          <a:prstGeom prst="line">
            <a:avLst/>
          </a:prstGeom>
          <a:ln w="1905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Faruk Muritala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AEBFD9"/>
                </a:solidFill>
                <a:latin typeface="Calibri"/>
              </a:rPr>
              <a:t>Kennesaw State University  ·  STAT 7900 Causal Analysis</a:t>
            </a: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AEBFD9"/>
                </a:solidFill>
                <a:latin typeface="Calibri"/>
              </a:rPr>
              <a:t>Instructor: Dr. Dhrubajyoti Ghosh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D9A441"/>
                </a:solidFill>
                <a:latin typeface="Calibri"/>
              </a:rPr>
              <a:t>github.com/fmurital/Causal-Inference-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WHY THIS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Motivation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08760"/>
            <a:ext cx="56235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C1611A"/>
                </a:solidFill>
                <a:latin typeface="Calibri"/>
              </a:rPr>
              <a:t>▪  </a:t>
            </a:r>
            <a:r>
              <a:rPr sz="1600" b="1">
                <a:solidFill>
                  <a:srgbClr val="1A2233"/>
                </a:solidFill>
                <a:latin typeface="Calibri"/>
              </a:rPr>
              <a:t>Preterm birth is a leading driver </a:t>
            </a:r>
            <a:r>
              <a:rPr sz="1600">
                <a:solidFill>
                  <a:srgbClr val="1A2233"/>
                </a:solidFill>
                <a:latin typeface="Calibri"/>
              </a:rPr>
              <a:t>of infant morbidity and mortality in the United States, and one of the few well-established risk factors for it is modifiable.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C1611A"/>
                </a:solidFill>
                <a:latin typeface="Calibri"/>
              </a:rPr>
              <a:t>▪  </a:t>
            </a:r>
            <a:r>
              <a:rPr sz="1600" b="1">
                <a:solidFill>
                  <a:srgbClr val="1A2233"/>
                </a:solidFill>
                <a:latin typeface="Calibri"/>
              </a:rPr>
              <a:t>Maternal smoking during pregnancy </a:t>
            </a:r>
            <a:r>
              <a:rPr sz="1600">
                <a:solidFill>
                  <a:srgbClr val="1A2233"/>
                </a:solidFill>
                <a:latin typeface="Calibri"/>
              </a:rPr>
              <a:t>is among the best-established modifiable risk factors for preterm delivery (&lt; 37 completed weeks).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C1611A"/>
                </a:solidFill>
                <a:latin typeface="Calibri"/>
              </a:rPr>
              <a:t>▪  </a:t>
            </a:r>
            <a:r>
              <a:rPr sz="1600" b="1">
                <a:solidFill>
                  <a:srgbClr val="1A2233"/>
                </a:solidFill>
                <a:latin typeface="Calibri"/>
              </a:rPr>
              <a:t>Smoking status is not randomly assigned.</a:t>
            </a:r>
            <a:r>
              <a:rPr sz="1600">
                <a:solidFill>
                  <a:srgbClr val="1A2233"/>
                </a:solidFill>
                <a:latin typeface="Calibri"/>
              </a:rPr>
              <a:t> A raw comparison of preterm rates between smokers and non-smokers mixes the causal effect of smoking with confounding by the many maternal, socioeconomic, and prenatal-care factors that jointly predict who smokes and who delivers early.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C1611A"/>
                </a:solidFill>
                <a:latin typeface="Calibri"/>
              </a:rPr>
              <a:t>▪  </a:t>
            </a:r>
            <a:r>
              <a:rPr sz="1600" b="1">
                <a:solidFill>
                  <a:srgbClr val="1A2233"/>
                </a:solidFill>
                <a:latin typeface="Calibri"/>
              </a:rPr>
              <a:t>The applied question: </a:t>
            </a:r>
            <a:r>
              <a:rPr sz="1600">
                <a:solidFill>
                  <a:srgbClr val="1A2233"/>
                </a:solidFill>
                <a:latin typeface="Calibri"/>
              </a:rPr>
              <a:t>what does a defensible, DAG-justified, propensity-score adjustment say the effect actually is — once that confounding is addressed?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00200"/>
            <a:ext cx="5212080" cy="1828800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 this cohort (2023 NVSS)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0574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D9A441"/>
                </a:solidFill>
                <a:latin typeface="Calibri"/>
              </a:rPr>
              <a:t>13.89%  </a:t>
            </a:r>
            <a:r>
              <a:rPr sz="1300">
                <a:solidFill>
                  <a:srgbClr val="FFFFFF"/>
                </a:solidFill>
                <a:latin typeface="Calibri"/>
              </a:rPr>
              <a:t>preterm-birth rate among smokers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D9A441"/>
                </a:solidFill>
                <a:latin typeface="Calibri"/>
              </a:rPr>
              <a:t>8.30%  </a:t>
            </a:r>
            <a:r>
              <a:rPr sz="1300">
                <a:solidFill>
                  <a:srgbClr val="FFFFFF"/>
                </a:solidFill>
                <a:latin typeface="Calibri"/>
              </a:rPr>
              <a:t>preterm-birth rate among non-smokers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D9A441"/>
                </a:solidFill>
                <a:latin typeface="Calibri"/>
              </a:rPr>
              <a:t>5.59 pp  </a:t>
            </a:r>
            <a:r>
              <a:rPr sz="1300">
                <a:solidFill>
                  <a:srgbClr val="FFFFFF"/>
                </a:solidFill>
                <a:latin typeface="Calibri"/>
              </a:rPr>
              <a:t>crude (unadjusted) risk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6576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F99"/>
                </a:solidFill>
                <a:latin typeface="Calibri"/>
              </a:rPr>
              <a:t>— but is this the causal effect, or partly confounding?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60520"/>
            <a:ext cx="5212080" cy="196596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The confounding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57200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2233"/>
                </a:solidFill>
                <a:latin typeface="Calibri"/>
              </a:rPr>
              <a:t>Age, race/ethnicity, education, insurance status, prior pregnancy history, and pre-existing conditions all plausibly influence both whether a mother smokes and her risk of preterm delivery. A causal estimate requires adjusting for exactly this shared-cause structure — no more, no less.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Existing Literature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500" b="1">
                <a:solidFill>
                  <a:srgbClr val="C1611A"/>
                </a:solidFill>
                <a:latin typeface="Calibri"/>
              </a:rPr>
              <a:t>▪  </a:t>
            </a:r>
            <a:r>
              <a:rPr sz="1500" b="1">
                <a:solidFill>
                  <a:srgbClr val="1A2233"/>
                </a:solidFill>
                <a:latin typeface="Calibri"/>
              </a:rPr>
              <a:t>Heiny &amp; Islam (JSM poster).</a:t>
            </a:r>
            <a:r>
              <a:rPr sz="1500">
                <a:solidFill>
                  <a:srgbClr val="1A2233"/>
                </a:solidFill>
                <a:latin typeface="Calibri"/>
              </a:rPr>
              <a:t> Applied propensity-score matching (PSM) to a similar maternal-smoking / preterm-birth question on a smaller, matched sample. This is the direct motivation for the present project.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500" b="1">
                <a:solidFill>
                  <a:srgbClr val="C1611A"/>
                </a:solidFill>
                <a:latin typeface="Calibri"/>
              </a:rPr>
              <a:t>▪  </a:t>
            </a:r>
            <a:r>
              <a:rPr sz="1500" b="1">
                <a:solidFill>
                  <a:srgbClr val="1A2233"/>
                </a:solidFill>
                <a:latin typeface="Calibri"/>
              </a:rPr>
              <a:t>Liu et al. (2020, PLOS Medicine).</a:t>
            </a:r>
            <a:r>
              <a:rPr sz="1500">
                <a:solidFill>
                  <a:srgbClr val="1A2233"/>
                </a:solidFill>
                <a:latin typeface="Calibri"/>
              </a:rPr>
              <a:t> The best-powered evidence: 25,623,479 U.S. singleton births (2011–2018 NVSS — the same data family used here). Found a graded dose-response: OR = 1.31 (1.29–1.33) at 1–2 cig/day up to OR = 1.53 (1.52–1.55) at 20+ cig/day (1st trimester); similar pattern in the 2nd trimester. Overall preterm rate 9.3%. Conclusion: “no safe level or safe trimester.”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500" b="1">
                <a:solidFill>
                  <a:srgbClr val="C1611A"/>
                </a:solidFill>
                <a:latin typeface="Calibri"/>
              </a:rPr>
              <a:t>▪  </a:t>
            </a:r>
            <a:r>
              <a:rPr sz="1500" b="1">
                <a:solidFill>
                  <a:srgbClr val="1A2233"/>
                </a:solidFill>
                <a:latin typeface="Calibri"/>
              </a:rPr>
              <a:t>Philips et al. (companion perspective, PLOS Medicine 2020).</a:t>
            </a:r>
            <a:r>
              <a:rPr sz="1500">
                <a:solidFill>
                  <a:srgbClr val="1A2233"/>
                </a:solidFill>
                <a:latin typeface="Calibri"/>
              </a:rPr>
              <a:t> An earlier meta-analysis (~220,000 births) found effects concentrated in the 3rd trimester with a lower baseline rate (4.7%) — attributed to differences in population baseline risk, motivating stratified analyses across baseline-risk groups.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500" b="1">
                <a:solidFill>
                  <a:srgbClr val="C1611A"/>
                </a:solidFill>
                <a:latin typeface="Calibri"/>
              </a:rPr>
              <a:t>▪  </a:t>
            </a:r>
            <a:r>
              <a:rPr sz="1500" b="1">
                <a:solidFill>
                  <a:srgbClr val="1A2233"/>
                </a:solidFill>
                <a:latin typeface="Calibri"/>
              </a:rPr>
              <a:t>Methodological foundation.</a:t>
            </a:r>
            <a:r>
              <a:rPr sz="1500">
                <a:solidFill>
                  <a:srgbClr val="1A2233"/>
                </a:solidFill>
                <a:latin typeface="Calibri"/>
              </a:rPr>
              <a:t> The propensity score itself: Rosenbaum &amp; Rubin (1983); its use for matching/weighting/stratification in health research: Austin (2011).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623560"/>
            <a:ext cx="11064240" cy="86868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Three additional 2025 sources (a propensity-matched &lt;30-week study; a 2025 systematic review/meta-analysis, Fu et al.; a 2023 prenatal-care-adequacy study) were located but blocked by CAPTCHA/bot-detection from full-text retrieval — cited for design relevance only; their specific effect estimates are deliberately not reproduced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WHAT THIS PROJECT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Research Gap &amp; Contribution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555555"/>
                </a:solidFill>
                <a:latin typeface="Calibri"/>
              </a:rPr>
              <a:t>Relative to the JSM poster this project extends, the contribution is not a different research question — it is a far more heavily instrumented answer to the same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3520440" cy="1874519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24612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3.25M births vs. a smaller matched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sample — the full 2023 U.S. national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birth registry, not a subsample.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2240280"/>
            <a:ext cx="3520440" cy="1874519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Positivity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97480"/>
            <a:ext cx="324612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Explicit propensity-score overlap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checks before any adjustment is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trusted (not always reported in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comparable detail in prior work).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240280"/>
            <a:ext cx="3520440" cy="1874519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 disclosed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97480"/>
            <a:ext cx="324612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1:1 matching was attempted and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failed to complete at this scale —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reported transparently, with run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times, rather than silently dropped.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3520440" cy="1874519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Doubly-robust estimator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324612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IPTW + covariate-adjustment as a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cross-check: stays consistent if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either the PS model or outcome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model (not necessarily both) is 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4343400"/>
            <a:ext cx="3520440" cy="1874519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Full balance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800600"/>
            <a:ext cx="324612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Standardized mean differences for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every covariate, before and after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weighting, against the 0.10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imbalance threshold.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343400"/>
            <a:ext cx="3520440" cy="1874519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Full reproducibility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800600"/>
            <a:ext cx="324612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Every number traces to executed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R and SAS code, openly available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6DFEC"/>
                </a:solidFill>
                <a:latin typeface="Calibri"/>
              </a:rPr>
              <a:t>on GitHub — in two languages.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FRAMING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Causal Question, Data &amp; Cohort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1">
                <a:solidFill>
                  <a:srgbClr val="1F3864"/>
                </a:solidFill>
                <a:latin typeface="Calibri"/>
              </a:rPr>
              <a:t>"Among singleton U.S. births in 2023, what is the effect of maternal smoking during pregnancy on the odds of preterm birth, after adjusting for measured confounders from a pre-specified causal diagram?"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Five ingredients of the causal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1600200" cy="438912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Population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12848" y="2606040"/>
            <a:ext cx="3566160" cy="438912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0">
                <a:solidFill>
                  <a:srgbClr val="1A2233"/>
                </a:solidFill>
                <a:latin typeface="Calibri"/>
              </a:rPr>
              <a:t>Singleton U.S. live births,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600200" cy="438912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Treatment (T)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2848" y="3136392"/>
            <a:ext cx="3566160" cy="438912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0">
                <a:solidFill>
                  <a:srgbClr val="1A2233"/>
                </a:solidFill>
                <a:latin typeface="Calibri"/>
              </a:rPr>
              <a:t>Maternal smoking at any point during pregnancy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66744"/>
            <a:ext cx="1600200" cy="438912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Comparator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12848" y="3666744"/>
            <a:ext cx="3566160" cy="438912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0">
                <a:solidFill>
                  <a:srgbClr val="1A2233"/>
                </a:solidFill>
                <a:latin typeface="Calibri"/>
              </a:rPr>
              <a:t>No maternal smoking during pregnancy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97096"/>
            <a:ext cx="1600200" cy="438912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Outcome (Y)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4197096"/>
            <a:ext cx="3566160" cy="438912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0">
                <a:solidFill>
                  <a:srgbClr val="1A2233"/>
                </a:solidFill>
                <a:latin typeface="Calibri"/>
              </a:rPr>
              <a:t>Preterm birth: delivery &lt; 37 completed weeks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27448"/>
            <a:ext cx="1600200" cy="438912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12848" y="4727448"/>
            <a:ext cx="3566160" cy="438912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0">
                <a:solidFill>
                  <a:srgbClr val="1A2233"/>
                </a:solidFill>
                <a:latin typeface="Calibri"/>
              </a:rPr>
              <a:t>Single pregnancy episode ending in a 2023 birth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Cohort composition (2023 NVSS)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606040"/>
            <a:ext cx="169164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606040"/>
            <a:ext cx="118872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606040"/>
            <a:ext cx="137160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Preterm births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44200" y="2606040"/>
            <a:ext cx="91440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Crude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063240"/>
            <a:ext cx="1691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0">
                <a:solidFill>
                  <a:srgbClr val="1A2233"/>
                </a:solidFill>
                <a:latin typeface="Calibri"/>
              </a:rPr>
              <a:t>Non-smokers (T=0)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063240"/>
            <a:ext cx="11887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3,155,252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3063240"/>
            <a:ext cx="13716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261,730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44200" y="3063240"/>
            <a:ext cx="9144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8.30%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520440"/>
            <a:ext cx="1691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 i="0">
                <a:solidFill>
                  <a:srgbClr val="1A2233"/>
                </a:solidFill>
                <a:latin typeface="Calibri"/>
              </a:rPr>
              <a:t>Smokers (T=1)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520440"/>
            <a:ext cx="11887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96,698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3520440"/>
            <a:ext cx="13716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13,427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44200" y="3520440"/>
            <a:ext cx="9144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13.89%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977639"/>
            <a:ext cx="1691640" cy="4572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1A2233"/>
                </a:solidFill>
                <a:latin typeface="Calibri"/>
              </a:rPr>
              <a:t>Total cohort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977639"/>
            <a:ext cx="1188720" cy="4572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A2233"/>
                </a:solidFill>
                <a:latin typeface="Calibri"/>
              </a:rPr>
              <a:t>3,251,950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3977639"/>
            <a:ext cx="1371600" cy="4572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A2233"/>
                </a:solidFill>
                <a:latin typeface="Calibri"/>
              </a:rPr>
              <a:t>275,157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44200" y="3977639"/>
            <a:ext cx="914400" cy="45720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A2233"/>
                </a:solidFill>
                <a:latin typeface="Calibri"/>
              </a:rPr>
              <a:t>8.46%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17720"/>
            <a:ext cx="5166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55555"/>
                </a:solidFill>
                <a:latin typeface="Calibri"/>
              </a:rPr>
              <a:t>Exposure prevalence: 2.97%.  Data source: 2023 NVSS natality public-use file (NCHS / NBER) — de-identified, publicly available, no IRB review required.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IDENTIFICATION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The Causal Diagram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55555"/>
                </a:solidFill>
                <a:latin typeface="Calibri"/>
              </a:rPr>
              <a:t>A directed acyclic graph (DAG) encodes which variables are common causes of both smoking and preterm birth (confounders, to be adjusted for) versus variables realized after smoking status is set (mediators/colliders, excluded).</a:t>
            </a:r>
          </a:p>
        </p:txBody>
      </p:sp>
      <p:pic>
        <p:nvPicPr>
          <p:cNvPr id="6" name="Picture 5" descr="fig_dag_identifi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428" y="2057400"/>
            <a:ext cx="8891239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F99"/>
                </a:solidFill>
                <a:latin typeface="Calibri"/>
              </a:rPr>
              <a:t>Eleven pre-treatment covariates → identification DAG; full path enumeration and the minimal-adjustment-set argument follow on the next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STATED EXPLICITLY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Identification Assumptions &amp; Adjustment 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1611A"/>
                </a:solidFill>
                <a:latin typeface="Calibri"/>
              </a:rPr>
              <a:t>Three identifying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486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50" b="1">
                <a:solidFill>
                  <a:srgbClr val="C1611A"/>
                </a:solidFill>
                <a:latin typeface="Calibri"/>
              </a:rPr>
              <a:t>▪  </a:t>
            </a:r>
            <a:r>
              <a:rPr sz="1350" b="1">
                <a:solidFill>
                  <a:srgbClr val="1A2233"/>
                </a:solidFill>
                <a:latin typeface="Calibri"/>
              </a:rPr>
              <a:t>Conditional exchangeability.</a:t>
            </a:r>
            <a:r>
              <a:rPr sz="1350">
                <a:solidFill>
                  <a:srgbClr val="1A2233"/>
                </a:solidFill>
                <a:latin typeface="Calibri"/>
              </a:rPr>
              <a:t> (Y(1),Y(0)) ⊥ T | X — no unmeasured confounding once the adjustment set X is controlled for.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50" b="1">
                <a:solidFill>
                  <a:srgbClr val="C1611A"/>
                </a:solidFill>
                <a:latin typeface="Calibri"/>
              </a:rPr>
              <a:t>▪  </a:t>
            </a:r>
            <a:r>
              <a:rPr sz="1350" b="1">
                <a:solidFill>
                  <a:srgbClr val="1A2233"/>
                </a:solidFill>
                <a:latin typeface="Calibri"/>
              </a:rPr>
              <a:t>Positivity.</a:t>
            </a:r>
            <a:r>
              <a:rPr sz="1350">
                <a:solidFill>
                  <a:srgbClr val="1A2233"/>
                </a:solidFill>
                <a:latin typeface="Calibri"/>
              </a:rPr>
              <a:t> 0 &lt; P(T=1 | X=x) &lt; 1 for every covariate pattern with support in the population — checked via the overlap diagnostic.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350" b="1">
                <a:solidFill>
                  <a:srgbClr val="C1611A"/>
                </a:solidFill>
                <a:latin typeface="Calibri"/>
              </a:rPr>
              <a:t>▪  </a:t>
            </a:r>
            <a:r>
              <a:rPr sz="1350" b="1">
                <a:solidFill>
                  <a:srgbClr val="1A2233"/>
                </a:solidFill>
                <a:latin typeface="Calibri"/>
              </a:rPr>
              <a:t>Consistency / SUTVA.</a:t>
            </a:r>
            <a:r>
              <a:rPr sz="1350">
                <a:solidFill>
                  <a:srgbClr val="1A2233"/>
                </a:solidFill>
                <a:latin typeface="Calibri"/>
              </a:rPr>
              <a:t> a mother's observed outcome under her observed exposure equals her potential outcome, with no interference between mothers.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92040"/>
            <a:ext cx="5486400" cy="1371600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Adjustment set X (11 covariates)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8523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6DFEC"/>
                </a:solidFill>
                <a:latin typeface="Calibri"/>
              </a:rPr>
              <a:t>Maternal age · race/ethnicity · education · prenatal-care-onset trimester · WIC participation · parity (nulliparous) · prior preterm birth · pre-pregnancy diabetes · pre-pregnancy hypertension · pre-pregnancy BMI · insurance/payer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1611A"/>
                </a:solidFill>
                <a:latin typeface="Calibri"/>
              </a:rPr>
              <a:t>Why this set is sufficient AND minimal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5257800" cy="1965960"/>
          </a:xfrm>
          <a:prstGeom prst="roundRect">
            <a:avLst/>
          </a:prstGeom>
          <a:solidFill>
            <a:srgbClr val="E9F3EC"/>
          </a:solidFill>
          <a:ln w="19050">
            <a:solidFill>
              <a:srgbClr val="23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300" b="1" i="0">
                <a:solidFill>
                  <a:srgbClr val="237A3E"/>
                </a:solidFill>
                <a:latin typeface="Calibri"/>
              </a:rPr>
              <a:t>Sufficient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2233"/>
                </a:solidFill>
                <a:latin typeface="Calibri"/>
              </a:rPr>
              <a:t>There are exactly 12 T–Y paths in the DAG: 1 causal path (T→Y) and 11 backdoor paths, one per confounder (T←Xi→Y). Conditioning on all 11 Xi blocks every backdoor path, since each passes through exactly one member of the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77639"/>
            <a:ext cx="5257800" cy="1965960"/>
          </a:xfrm>
          <a:prstGeom prst="roundRect">
            <a:avLst/>
          </a:prstGeom>
          <a:solidFill>
            <a:srgbClr val="FBEFE3"/>
          </a:solidFill>
          <a:ln w="19050">
            <a:solidFill>
              <a:srgbClr val="C1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300" b="1" i="0">
                <a:solidFill>
                  <a:srgbClr val="C1611A"/>
                </a:solidFill>
                <a:latin typeface="Calibri"/>
              </a:rPr>
              <a:t>Minimal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2233"/>
                </a:solidFill>
                <a:latin typeface="Calibri"/>
              </a:rPr>
              <a:t>No Xi can be dropped: each confounder is the only node on its own backdoor path, so removing it leaves that path open (unblocked). The set contains no mediator or collider of T→Y that would need to be excluded.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HOW THE ANALYSIS WAS EXECUTED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Methodology —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68680" y="1988819"/>
            <a:ext cx="1243584" cy="150876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A2233"/>
                </a:solidFill>
                <a:latin typeface="Calibr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316736" y="1815084"/>
            <a:ext cx="347472" cy="347472"/>
          </a:xfrm>
          <a:prstGeom prst="ellips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3512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Specify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causal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746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5 ingredients;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ATE estimand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30552" y="2743200"/>
            <a:ext cx="118872" cy="0"/>
          </a:xfrm>
          <a:prstGeom prst="line">
            <a:avLst/>
          </a:prstGeom>
          <a:ln w="25400">
            <a:solidFill>
              <a:srgbClr val="C1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67712" y="1988819"/>
            <a:ext cx="1243584" cy="150876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A2233"/>
                </a:solidFill>
                <a:latin typeface="Calibri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2715768" y="1815084"/>
            <a:ext cx="347472" cy="347472"/>
          </a:xfrm>
          <a:prstGeom prst="ellips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144" y="213512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Build DAG +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adjustment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26746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11 confounders;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minimal &amp; sufficient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9584" y="2743200"/>
            <a:ext cx="118872" cy="0"/>
          </a:xfrm>
          <a:prstGeom prst="line">
            <a:avLst/>
          </a:prstGeom>
          <a:ln w="25400">
            <a:solidFill>
              <a:srgbClr val="C1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66744" y="1988819"/>
            <a:ext cx="1243584" cy="150876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A2233"/>
                </a:solidFill>
                <a:latin typeface="Calibr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4114799" y="1815084"/>
            <a:ext cx="347472" cy="347472"/>
          </a:xfrm>
          <a:prstGeom prst="ellips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13512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Fit PS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6746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Logistic regression,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15% stratified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subsample (n=487,793)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28616" y="2743200"/>
            <a:ext cx="118872" cy="0"/>
          </a:xfrm>
          <a:prstGeom prst="line">
            <a:avLst/>
          </a:prstGeom>
          <a:ln w="25400">
            <a:solidFill>
              <a:srgbClr val="C1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5776" y="1988819"/>
            <a:ext cx="1243584" cy="150876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A2233"/>
                </a:solidFill>
                <a:latin typeface="Calibri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5513831" y="1815084"/>
            <a:ext cx="347472" cy="347472"/>
          </a:xfrm>
          <a:prstGeom prst="ellips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213512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Check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positivity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26746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PS density overlap;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trim to [0.01, 0.99]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27648" y="2743200"/>
            <a:ext cx="118872" cy="0"/>
          </a:xfrm>
          <a:prstGeom prst="line">
            <a:avLst/>
          </a:prstGeom>
          <a:ln w="25400">
            <a:solidFill>
              <a:srgbClr val="C1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64808" y="1988819"/>
            <a:ext cx="1243584" cy="150876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A2233"/>
                </a:solidFill>
                <a:latin typeface="Calibri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6912864" y="1815084"/>
            <a:ext cx="347472" cy="347472"/>
          </a:xfrm>
          <a:prstGeom prst="ellips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13512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Weight /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stratify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746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Stabilized IPTW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(primary); PS-quintile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strata (Mantel–Haenszel)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26679" y="2743200"/>
            <a:ext cx="118873" cy="0"/>
          </a:xfrm>
          <a:prstGeom prst="line">
            <a:avLst/>
          </a:prstGeom>
          <a:ln w="25400">
            <a:solidFill>
              <a:srgbClr val="C1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863840" y="1988819"/>
            <a:ext cx="1243584" cy="150876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A2233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8311896" y="1815084"/>
            <a:ext cx="347472" cy="347472"/>
          </a:xfrm>
          <a:prstGeom prst="ellips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1" y="213512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Diagnose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1" y="26746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SMD before/after;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target |SMD| &lt; 0.10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25711" y="2743200"/>
            <a:ext cx="118873" cy="0"/>
          </a:xfrm>
          <a:prstGeom prst="line">
            <a:avLst/>
          </a:prstGeom>
          <a:ln w="25400">
            <a:solidFill>
              <a:srgbClr val="C1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262872" y="1988819"/>
            <a:ext cx="1243584" cy="150876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A2233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9710928" y="1815084"/>
            <a:ext cx="347472" cy="347472"/>
          </a:xfrm>
          <a:prstGeom prst="ellips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3" y="213512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Estimate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effect (×5)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3" y="26746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OR, robust SE,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95% CI, 5 estimators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524743" y="2743200"/>
            <a:ext cx="118872" cy="0"/>
          </a:xfrm>
          <a:prstGeom prst="line">
            <a:avLst/>
          </a:prstGeom>
          <a:ln w="25400">
            <a:solidFill>
              <a:srgbClr val="C1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661904" y="1988819"/>
            <a:ext cx="1243584" cy="1508760"/>
          </a:xfrm>
          <a:prstGeom prst="roundRect">
            <a:avLst/>
          </a:prstGeom>
          <a:solidFill>
            <a:srgbClr val="EEF2F7"/>
          </a:solidFill>
          <a:ln w="1778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 i="0">
                <a:solidFill>
                  <a:srgbClr val="1A2233"/>
                </a:solidFill>
                <a:latin typeface="Calibri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11109960" y="1815084"/>
            <a:ext cx="347472" cy="347472"/>
          </a:xfrm>
          <a:prstGeom prst="ellips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89336" y="213512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Compare to</a:t>
            </a:r>
          </a:p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1A2233"/>
                </a:solidFill>
                <a:latin typeface="Calibri"/>
              </a:rPr>
              <a:t>literature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89336" y="26746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vs. Liu et al. (2020)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555555"/>
                </a:solidFill>
                <a:latin typeface="Calibri"/>
              </a:rPr>
              <a:t>dose-response range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1888" y="363474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A62B2B"/>
                </a:solidFill>
                <a:latin typeface="Calibri"/>
              </a:rPr>
              <a:t>1:1 matching attempted first;</a:t>
            </a:r>
          </a:p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A62B2B"/>
                </a:solidFill>
                <a:latin typeface="Calibri"/>
              </a:rPr>
              <a:t>failed to complete → disclosed</a:t>
            </a:r>
          </a:p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A62B2B"/>
                </a:solidFill>
                <a:latin typeface="Calibri"/>
              </a:rPr>
              <a:t>pivot to IPTW / stratification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1">
                <a:solidFill>
                  <a:srgbClr val="555555"/>
                </a:solidFill>
                <a:latin typeface="Calibri"/>
              </a:rPr>
              <a:t>This is the workflow exactly as executed — including the step that did not go as originally planned (Stage 5). Every stage is documented, with exact run parameters, in the openly available R and SAS code.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A DISCLOSED METHODOLOGICAL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From Matching to Weighting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233"/>
                </a:solidFill>
                <a:latin typeface="Calibri"/>
              </a:rPr>
              <a:t>The original plan — mirroring the JSM poster this project extends — was 1:1 nearest-neighbor propensity-score matching (caliper = 0.2 SD of the logit-PS). It was attempted twice.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560320" cy="155448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Attempt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2233"/>
                </a:solidFill>
                <a:latin typeface="Calibri"/>
              </a:rPr>
              <a:t>Full control pool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2233"/>
                </a:solidFill>
                <a:latin typeface="Calibri"/>
              </a:rPr>
              <a:t>(~3.15M non-smokers)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A62B2B"/>
                </a:solidFill>
                <a:latin typeface="Calibri"/>
              </a:rPr>
              <a:t>Failed to complete</a:t>
            </a:r>
          </a:p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A62B2B"/>
                </a:solidFill>
                <a:latin typeface="Calibri"/>
              </a:rPr>
              <a:t>after 9 min 50 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60320" cy="1554480"/>
          </a:xfrm>
          <a:prstGeom prst="roundRect">
            <a:avLst/>
          </a:prstGeom>
          <a:solidFill>
            <a:srgbClr val="EEF2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Attempt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97480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2233"/>
                </a:solidFill>
                <a:latin typeface="Calibri"/>
              </a:rPr>
              <a:t>8:1 sampled control pool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2233"/>
                </a:solidFill>
                <a:latin typeface="Calibri"/>
              </a:rPr>
              <a:t>(870,282 controls)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337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A62B2B"/>
                </a:solidFill>
                <a:latin typeface="Calibri"/>
              </a:rPr>
              <a:t>Failed to complete</a:t>
            </a:r>
          </a:p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A62B2B"/>
                </a:solidFill>
                <a:latin typeface="Calibri"/>
              </a:rPr>
              <a:t>after 6 min 40 sec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09360" y="3063240"/>
            <a:ext cx="640080" cy="0"/>
          </a:xfrm>
          <a:prstGeom prst="line">
            <a:avLst/>
          </a:prstGeom>
          <a:ln w="31750">
            <a:solidFill>
              <a:srgbClr val="C1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95160" y="2286000"/>
            <a:ext cx="4389120" cy="1554480"/>
          </a:xfrm>
          <a:prstGeom prst="roundRect">
            <a:avLst/>
          </a:prstGeom>
          <a:solidFill>
            <a:srgbClr val="FBEFE3"/>
          </a:solidFill>
          <a:ln w="19050">
            <a:solidFill>
              <a:srgbClr val="C1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  <a:r>
              <a:rPr sz="1300" b="1" i="0">
                <a:solidFill>
                  <a:srgbClr val="C1611A"/>
                </a:solidFill>
                <a:latin typeface="Calibri"/>
              </a:rPr>
              <a:t>Why it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69748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2233"/>
                </a:solidFill>
                <a:latin typeface="Calibri"/>
              </a:rPr>
              <a:t>Almost certainly massive ties in the propensity-score distribution at this sample size, which make greedy sequential nearest-neighbor search computationally pathological.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1611A"/>
                </a:solidFill>
                <a:latin typeface="Calibri"/>
              </a:rPr>
              <a:t>The disclosed 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11064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C1611A"/>
                </a:solidFill>
                <a:latin typeface="Calibri"/>
              </a:rPr>
              <a:t>▪  </a:t>
            </a:r>
            <a:r>
              <a:rPr sz="1350" b="1">
                <a:solidFill>
                  <a:srgbClr val="1A2233"/>
                </a:solidFill>
                <a:latin typeface="Calibri"/>
              </a:rPr>
              <a:t>Rather than report a matching analysis that never finished, </a:t>
            </a:r>
            <a:r>
              <a:rPr sz="1350">
                <a:solidFill>
                  <a:srgbClr val="1A2233"/>
                </a:solidFill>
                <a:latin typeface="Calibri"/>
              </a:rPr>
              <a:t>the strategy switched to inverse probability of treatment weighting (IPTW) and propensity-score-quintile stratification — standard, well-established methods that require no combinatorial search.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C1611A"/>
                </a:solidFill>
                <a:latin typeface="Calibri"/>
              </a:rPr>
              <a:t>▪  </a:t>
            </a:r>
            <a:r>
              <a:rPr sz="1350" b="1">
                <a:solidFill>
                  <a:srgbClr val="1A2233"/>
                </a:solidFill>
                <a:latin typeface="Calibri"/>
              </a:rPr>
              <a:t>This is disclosed, not hidden: </a:t>
            </a:r>
            <a:r>
              <a:rPr sz="1350">
                <a:solidFill>
                  <a:srgbClr val="1A2233"/>
                </a:solidFill>
                <a:latin typeface="Calibri"/>
              </a:rPr>
              <a:t>no matched-analysis numbers appear anywhere in the paper, because no matching analysis ever finished. Both attempts, with their exact run times, are reported.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RESULTS — DID THE ADJUSTMENT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Balance Diagnostics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overlap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7" y="4023360"/>
            <a:ext cx="4039985" cy="2468880"/>
          </a:xfrm>
          <a:prstGeom prst="rect">
            <a:avLst/>
          </a:prstGeom>
        </p:spPr>
      </p:pic>
      <p:pic>
        <p:nvPicPr>
          <p:cNvPr id="6" name="Picture 5" descr="fig_lov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066544"/>
            <a:ext cx="5120640" cy="4096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55555"/>
                </a:solidFill>
                <a:latin typeface="Calibri"/>
              </a:rPr>
              <a:t>Before trusting any adjusted estimate, overlap and covariate balance were checked — not assumed.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291840" cy="41148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65960"/>
            <a:ext cx="1417320" cy="41148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Before weighting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965960"/>
            <a:ext cx="1508760" cy="41148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After IPTW weighting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3291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 i="0">
                <a:solidFill>
                  <a:srgbClr val="1A2233"/>
                </a:solidFill>
                <a:latin typeface="Calibri"/>
              </a:rPr>
              <a:t>Max |SMD| across all covariates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377440"/>
            <a:ext cx="141732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1A2233"/>
                </a:solidFill>
                <a:latin typeface="Calibri"/>
              </a:rPr>
              <a:t>0.405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377440"/>
            <a:ext cx="1508760" cy="41148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237A3E"/>
                </a:solidFill>
                <a:latin typeface="Calibri"/>
              </a:rPr>
              <a:t>0.072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8920"/>
            <a:ext cx="3291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 i="0">
                <a:solidFill>
                  <a:srgbClr val="1A2233"/>
                </a:solidFill>
                <a:latin typeface="Calibri"/>
              </a:rPr>
              <a:t>Covariates with |SMD| &gt; 0.10 (of 29)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788920"/>
            <a:ext cx="141732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 i="0">
                <a:solidFill>
                  <a:srgbClr val="1A2233"/>
                </a:solidFill>
                <a:latin typeface="Calibri"/>
              </a:rPr>
              <a:t>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788920"/>
            <a:ext cx="1508760" cy="41148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237A3E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1611A"/>
                </a:solidFill>
                <a:latin typeface="Calibri"/>
              </a:rPr>
              <a:t>IPTW weight distribution: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9300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2233"/>
                </a:solidFill>
                <a:latin typeface="Calibri"/>
              </a:rPr>
              <a:t>min 0.081 · median 0.985 · mean 1.000 · max 4.85 — none above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RESULTS — THE ESTIMATED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Five Estimators, One Consistent Story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344876"/>
            <a:ext cx="6492240" cy="326552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691640"/>
            <a:ext cx="178308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691640"/>
            <a:ext cx="91440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691640"/>
            <a:ext cx="141732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OR (95% CI)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178308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1A2233"/>
                </a:solidFill>
                <a:latin typeface="Calibri"/>
              </a:rPr>
              <a:t>1. Crude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148840"/>
            <a:ext cx="9144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3,251,950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148840"/>
            <a:ext cx="1417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1.78 (1.75, 1.82)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40"/>
            <a:ext cx="178308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1A2233"/>
                </a:solidFill>
                <a:latin typeface="Calibri"/>
              </a:rPr>
              <a:t>2. DAG-adjusted regr.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606040"/>
            <a:ext cx="9144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400,000*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2606040"/>
            <a:ext cx="1417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1.46 (1.38, 1.54)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78308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1A2233"/>
                </a:solidFill>
                <a:latin typeface="Calibri"/>
              </a:rPr>
              <a:t>3. IPTW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063240"/>
            <a:ext cx="9144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400,000*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3063240"/>
            <a:ext cx="1417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1.29 (1.22, 1.37)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178308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1A2233"/>
                </a:solidFill>
                <a:latin typeface="Calibri"/>
              </a:rPr>
              <a:t>4. IPTW + adjusted (DR)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3520440"/>
            <a:ext cx="9144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400,000*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3520440"/>
            <a:ext cx="1417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1.30 (1.23, 1.37)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77639"/>
            <a:ext cx="178308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 i="0">
                <a:solidFill>
                  <a:srgbClr val="1A2233"/>
                </a:solidFill>
                <a:latin typeface="Calibri"/>
              </a:rPr>
              <a:t>5. PS-quintile (MH)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3977639"/>
            <a:ext cx="9144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1,913,190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3977639"/>
            <a:ext cx="1417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 i="0">
                <a:solidFill>
                  <a:srgbClr val="1A2233"/>
                </a:solidFill>
                <a:latin typeface="Calibri"/>
              </a:rPr>
              <a:t>1.41 (1.39, 1.44)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079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F99"/>
                </a:solidFill>
                <a:latin typeface="Calibri"/>
              </a:rPr>
              <a:t>*400,000-row exposure-stratified subsample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4114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2233"/>
                </a:solidFill>
                <a:latin typeface="Calibri"/>
              </a:rPr>
              <a:t>Crude OR 1.78 attenuates to 1.29–1.46 across every adjustment strategy. Risk difference falls from 5.59 pp (crude) to 2.75 pp after IPTW (12.17% predicted risk among smokers vs. 9.42% among non-smokers).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PUTTING THE ESTIMATE IN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Interpretation vs. the Literature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2233"/>
                </a:solidFill>
                <a:latin typeface="Calibri"/>
              </a:rPr>
              <a:t>The adjusted estimates here (OR ≈ 1.29–1.46) fall within — and toward the lower end of — the dose-response range reported by Liu et al. (2020) using the same national data source for 2011–2018.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37744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651760"/>
            <a:ext cx="429768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This project (2023, binary exposure)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651760"/>
            <a:ext cx="4297680" cy="45720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Liu et al. 2020 (2011–2018, by intensity)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377440" cy="77724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1A2233"/>
                </a:solidFill>
                <a:latin typeface="Calibri"/>
              </a:rPr>
              <a:t>1st-trimester smoking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108960"/>
            <a:ext cx="4297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OR = 1.29–1.46</a:t>
            </a:r>
          </a:p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(all intensities pooled)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108960"/>
            <a:ext cx="4297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OR = 1.31 (1–2 cig/day)</a:t>
            </a:r>
          </a:p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to 1.53 (20+ cig/day)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2377440" cy="777240"/>
          </a:xfrm>
          <a:prstGeom prst="roundRect">
            <a:avLst/>
          </a:prstGeom>
          <a:solidFill>
            <a:srgbClr val="EEF2F7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1A2233"/>
                </a:solidFill>
                <a:latin typeface="Calibri"/>
              </a:rPr>
              <a:t>2nd-trimester smoking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886200"/>
            <a:ext cx="4297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— (not separately modeled)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886200"/>
            <a:ext cx="42976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OR = 1.37 to 1.59</a:t>
            </a:r>
          </a:p>
          <a:p>
            <a:pPr algn="ctr"/>
            <a:r>
              <a:rPr sz="1150" b="0" i="0">
                <a:solidFill>
                  <a:srgbClr val="1A2233"/>
                </a:solidFill>
                <a:latin typeface="Calibri"/>
              </a:rPr>
              <a:t>by intensity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555555"/>
                </a:solidFill>
                <a:latin typeface="Calibri"/>
              </a:rPr>
              <a:t>This is the expected relationship: the present analysis does not stratify by smoking intensity or trimester, so it estimates an effect averaged across all exposure-intensity levels present in the 2023 cohort — naturally landing inside the dose-response envelope rather than at either extreme.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HONEST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Strengths &amp; Limitations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37A3E"/>
                </a:solidFill>
                <a:latin typeface="Calibri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 b="1">
                <a:solidFill>
                  <a:srgbClr val="237A3E"/>
                </a:solidFill>
                <a:latin typeface="Calibri"/>
              </a:rPr>
              <a:t>▪  </a:t>
            </a:r>
            <a:r>
              <a:rPr sz="1300">
                <a:solidFill>
                  <a:srgbClr val="1A2233"/>
                </a:solidFill>
                <a:latin typeface="Calibri"/>
              </a:rPr>
              <a:t>Near-census national cohort (N &gt; 3.25M), not a matched subsample.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 b="1">
                <a:solidFill>
                  <a:srgbClr val="237A3E"/>
                </a:solidFill>
                <a:latin typeface="Calibri"/>
              </a:rPr>
              <a:t>▪  </a:t>
            </a:r>
            <a:r>
              <a:rPr sz="1300">
                <a:solidFill>
                  <a:srgbClr val="1A2233"/>
                </a:solidFill>
                <a:latin typeface="Calibri"/>
              </a:rPr>
              <a:t>Pre-specified, DAG-justified adjustment set — not a post-hoc “kitchen sink.”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 b="1">
                <a:solidFill>
                  <a:srgbClr val="237A3E"/>
                </a:solidFill>
                <a:latin typeface="Calibri"/>
              </a:rPr>
              <a:t>▪  </a:t>
            </a:r>
            <a:r>
              <a:rPr sz="1300">
                <a:solidFill>
                  <a:srgbClr val="1A2233"/>
                </a:solidFill>
                <a:latin typeface="Calibri"/>
              </a:rPr>
              <a:t>Positivity/overlap diagnostics and balance reporting before and after adjustment.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 b="1">
                <a:solidFill>
                  <a:srgbClr val="237A3E"/>
                </a:solidFill>
                <a:latin typeface="Calibri"/>
              </a:rPr>
              <a:t>▪  </a:t>
            </a:r>
            <a:r>
              <a:rPr sz="1300">
                <a:solidFill>
                  <a:srgbClr val="1A2233"/>
                </a:solidFill>
                <a:latin typeface="Calibri"/>
              </a:rPr>
              <a:t>A doubly-robust estimator as a cross-check on the IPTW-only estimate.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 b="1">
                <a:solidFill>
                  <a:srgbClr val="237A3E"/>
                </a:solidFill>
                <a:latin typeface="Calibri"/>
              </a:rPr>
              <a:t>▪  </a:t>
            </a:r>
            <a:r>
              <a:rPr sz="1300">
                <a:solidFill>
                  <a:srgbClr val="1A2233"/>
                </a:solidFill>
                <a:latin typeface="Calibri"/>
              </a:rPr>
              <a:t>Full, disclosed reproducibility — including the one approach that did not succeed.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A62B2B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A62B2B"/>
                </a:solidFill>
                <a:latin typeface="Calibri"/>
              </a:rPr>
              <a:t>▪  </a:t>
            </a:r>
            <a:r>
              <a:rPr sz="1300" b="1">
                <a:solidFill>
                  <a:srgbClr val="1A2233"/>
                </a:solidFill>
                <a:latin typeface="Calibri"/>
              </a:rPr>
              <a:t>Residual confounding.</a:t>
            </a:r>
            <a:r>
              <a:rPr sz="1300">
                <a:solidFill>
                  <a:srgbClr val="1A2233"/>
                </a:solidFill>
                <a:latin typeface="Calibri"/>
              </a:rPr>
              <a:t> Unmeasured factors (e.g. substance use, detailed SES) cannot be ruled out even with excellent measured balance.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A62B2B"/>
                </a:solidFill>
                <a:latin typeface="Calibri"/>
              </a:rPr>
              <a:t>▪  </a:t>
            </a:r>
            <a:r>
              <a:rPr sz="1300" b="1">
                <a:solidFill>
                  <a:srgbClr val="1A2233"/>
                </a:solidFill>
                <a:latin typeface="Calibri"/>
              </a:rPr>
              <a:t>Binary exposure coding.</a:t>
            </a:r>
            <a:r>
              <a:rPr sz="1300">
                <a:solidFill>
                  <a:srgbClr val="1A2233"/>
                </a:solidFill>
                <a:latin typeface="Calibri"/>
              </a:rPr>
              <a:t> No intensity or trimester timing — both of which Liu et al. (2020) show matter.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A62B2B"/>
                </a:solidFill>
                <a:latin typeface="Calibri"/>
              </a:rPr>
              <a:t>▪  </a:t>
            </a:r>
            <a:r>
              <a:rPr sz="1300" b="1">
                <a:solidFill>
                  <a:srgbClr val="1A2233"/>
                </a:solidFill>
                <a:latin typeface="Calibri"/>
              </a:rPr>
              <a:t>Self-reported exposure,</a:t>
            </a:r>
            <a:r>
              <a:rPr sz="1300">
                <a:solidFill>
                  <a:srgbClr val="1A2233"/>
                </a:solidFill>
                <a:latin typeface="Calibri"/>
              </a:rPr>
              <a:t> known to be under-reported on birth certificates — biases toward the null.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A62B2B"/>
                </a:solidFill>
                <a:latin typeface="Calibri"/>
              </a:rPr>
              <a:t>▪  </a:t>
            </a:r>
            <a:r>
              <a:rPr sz="1300" b="1">
                <a:solidFill>
                  <a:srgbClr val="1A2233"/>
                </a:solidFill>
                <a:latin typeface="Calibri"/>
              </a:rPr>
              <a:t>Complete-case analysis.</a:t>
            </a:r>
            <a:r>
              <a:rPr sz="1300">
                <a:solidFill>
                  <a:srgbClr val="1A2233"/>
                </a:solidFill>
                <a:latin typeface="Calibri"/>
              </a:rPr>
              <a:t> 6.45% dropped for missingness on an adjustment covariate.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A62B2B"/>
                </a:solidFill>
                <a:latin typeface="Calibri"/>
              </a:rPr>
              <a:t>▪  </a:t>
            </a:r>
            <a:r>
              <a:rPr sz="1300" b="1">
                <a:solidFill>
                  <a:srgbClr val="1A2233"/>
                </a:solidFill>
                <a:latin typeface="Calibri"/>
              </a:rPr>
              <a:t>Subsampling for tractability.</a:t>
            </a:r>
            <a:r>
              <a:rPr sz="1300">
                <a:solidFill>
                  <a:srgbClr val="1A2233"/>
                </a:solidFill>
                <a:latin typeface="Calibri"/>
              </a:rPr>
              <a:t> Models 2–4 fit on 400K-row subsamples due to memory limits; coefficients confirmed stable to fixed seeds.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A441"/>
                </a:solidFill>
                <a:latin typeface="Calibri"/>
              </a:rP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97280"/>
            <a:ext cx="10725912" cy="0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173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Using the complete 2023 U.S. national birth cohort, maternal smoking during pregnancy is associated with 29–46% higher odds of preterm birth after adjustment — most rigorously, OR = 1.30 (95% CI: 1.23, 1.37) under doubly-robust IPTW.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C9D6E8"/>
                </a:solidFill>
                <a:latin typeface="Calibri"/>
              </a:rPr>
              <a:t>This is consistent with, and at the conservative end of, prior dose-response evidence from the same data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>
                <a:solidFill>
                  <a:srgbClr val="D9A441"/>
                </a:solidFill>
                <a:latin typeface="Calibri"/>
              </a:rPr>
              <a:t>▪  </a:t>
            </a:r>
            <a:r>
              <a:rPr sz="1450">
                <a:solidFill>
                  <a:srgbClr val="FFFFFF"/>
                </a:solidFill>
                <a:latin typeface="Calibri"/>
              </a:rPr>
              <a:t>Five convergent estimators — not one model's specification driving the result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>
                <a:solidFill>
                  <a:srgbClr val="D9A441"/>
                </a:solidFill>
                <a:latin typeface="Calibri"/>
              </a:rPr>
              <a:t>▪  </a:t>
            </a:r>
            <a:r>
              <a:rPr sz="1450">
                <a:solidFill>
                  <a:srgbClr val="FFFFFF"/>
                </a:solidFill>
                <a:latin typeface="Calibri"/>
              </a:rPr>
              <a:t>Extensive balance diagnostics, before and after adjustment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>
                <a:solidFill>
                  <a:srgbClr val="D9A441"/>
                </a:solidFill>
                <a:latin typeface="Calibri"/>
              </a:rPr>
              <a:t>▪  </a:t>
            </a:r>
            <a:r>
              <a:rPr sz="1450">
                <a:solidFill>
                  <a:srgbClr val="FFFFFF"/>
                </a:solidFill>
                <a:latin typeface="Calibri"/>
              </a:rPr>
              <a:t>Full code reproducibility, in both R and 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AEBFD9"/>
                </a:solidFill>
                <a:latin typeface="Calibri"/>
              </a:rPr>
              <a:t>Offered as a template for propensity-score methods on large administrative birth registries when individual matching is not tractable.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FB1C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11A"/>
                </a:solidFill>
                <a:latin typeface="Calibri"/>
              </a:rPr>
              <a:t>EVERYTHING IS CHECKABLE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Reproducibility, Code &amp; AI-Use Disclosure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554480"/>
            <a:ext cx="11064240" cy="1188720"/>
          </a:xfrm>
          <a:prstGeom prst="roundRect">
            <a:avLst/>
          </a:prstGeom>
          <a:solidFill>
            <a:srgbClr val="EEF2F7"/>
          </a:solidFill>
          <a:ln w="2540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 i="0">
                <a:solidFill>
                  <a:srgbClr val="1F3864"/>
                </a:solidFill>
                <a:latin typeface="Calibri"/>
              </a:rPr>
              <a:t>github.com/fmurital/Causal-Inference-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A2233"/>
                </a:solidFill>
                <a:latin typeface="Calibri"/>
              </a:rPr>
              <a:t>Organized by artifact: code/R/ · code/SAS/ · figures/ · paper/ — with a README documenting the data source, exact run order, and a reproducibility statement.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212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C1611A"/>
                </a:solidFill>
                <a:latin typeface="Calibri"/>
              </a:rPr>
              <a:t>▪  </a:t>
            </a:r>
            <a:r>
              <a:rPr sz="1300">
                <a:solidFill>
                  <a:srgbClr val="1A2233"/>
                </a:solidFill>
                <a:latin typeface="Calibri"/>
              </a:rPr>
              <a:t>The full pipeline is implemented independently in both R and SAS.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C1611A"/>
                </a:solidFill>
                <a:latin typeface="Calibri"/>
              </a:rPr>
              <a:t>▪  </a:t>
            </a:r>
            <a:r>
              <a:rPr sz="1300">
                <a:solidFill>
                  <a:srgbClr val="1A2233"/>
                </a:solidFill>
                <a:latin typeface="Calibri"/>
              </a:rPr>
              <a:t>Every reported number traces to executed code — nothing in this deck is estimated “by eye.”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C1611A"/>
                </a:solidFill>
                <a:latin typeface="Calibri"/>
              </a:rPr>
              <a:t>▪  </a:t>
            </a:r>
            <a:r>
              <a:rPr sz="1300">
                <a:solidFill>
                  <a:srgbClr val="1A2233"/>
                </a:solidFill>
                <a:latin typeface="Calibri"/>
              </a:rPr>
              <a:t>Includes the abandoned matching attempt, kept for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566160"/>
            <a:ext cx="5349240" cy="265176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B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350" b="1" i="0">
                <a:solidFill>
                  <a:srgbClr val="1F3864"/>
                </a:solidFill>
                <a:latin typeface="Calibri"/>
              </a:rPr>
              <a:t>AI-use disclosure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977639"/>
            <a:ext cx="48920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1A2233"/>
                </a:solidFill>
                <a:latin typeface="Calibri"/>
              </a:rPr>
              <a:t>Generative AI assistance (Claude, Anthropic) was used for code drafting, debugging, document formatting, and literature-search support, under the author's direction, review, and correction — per STAT 7900 course policy. No result, figure, or number in this work was generated or estimated by the AI independent of author-directed, executed R/SAS code. The author reviewed all code and output and takes full responsibility for the analytic decisions, code, and conclusions presented.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Applying Propensity Score Matching to Evaluate Interventions  ·  SEASUG 2026 (Paper #103)  ·  Faruk Muritala, KSU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F9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